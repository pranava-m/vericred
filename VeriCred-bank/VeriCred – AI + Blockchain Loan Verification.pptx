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VeriCred helps banks lend to gig workers who have steady income but no salary slip or credit history, by turning their work history into one verified score and recording each decision on a blockchain. Mention both team roll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three-step rejection: no payslip, no credit history, therefore no loan. The key line: the proof of reliable work exists, just not in a form banks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collect the work data, score it, verify and record it. Each step maps to a module in the project: scoring_engine, risk_engine, and the blockchain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 carries the most weight at 25 percent, then cancellations and on-time rate at 20 each. Weights add up to 100. The score is a weighted sum scaled 0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Meter blends three inputs: 55 percent AI score, 30 percent CIBIL, 15 percent bank balance adequacy. Higher means safer. Bands: 75 and above Low, 50 to 74 Moderate, below 50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left to right. Scoring and risk are in Python; the portal is Flask; the last layer is the hash-chained ledger and the Solidity contract. Privacy point: raw data never goes on-chain.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protections in plain words. Hash chain: links blocks. Merkle root: fingerprint of the dataset. Signature: only the authorised oracle can record. Mention the tamper test result from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point. The portal runs in a simulated mode with a local ledger, or in real mode where the decision is sent to the contract on Polygon Amoy. Say which mode you are showing.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order of AI scores matches the order of Risk Meter values. The test data is synthetic. Priya is Moderate because her CIBIL of 620 pulls the blend down below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Solidity has no decimals, so scores are multiplied by 100. The modifier onlyOracle rejects any other wallet. verifyLatestMerkleRoot lets anyone check a dataset fingerprint against what was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this is a testnet deployment, not mainnet, so the coins have no real value. The address can be searched on amoy.polygonscan.com. If you also recorded a decision live, show that transaction page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 data is synthetic and the weights are hand-set. These four steps are what would turn the prototype into something a bank could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summary: reliable gig workers get a fair, verifiable score, and every decision is recorded where it cannot be quietly changed.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0E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0941"/>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2A1C0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006601"/>
            <a:ext cx="10566400" cy="4038599"/>
          </a:xfrm>
          <a:prstGeom prst="rect">
            <a:avLst/>
          </a:prstGeom>
          <a:noFill/>
          <a:ln/>
        </p:spPr>
        <p:txBody>
          <a:bodyPr wrap="square" lIns="0" tIns="0" rIns="0" bIns="0" rtlCol="0" anchor="t"/>
          <a:lstStyle>
            <a:lvl1pPr algn="l" indent="0" marL="0">
              <a:lnSpc>
                <a:spcPct val="140000"/>
              </a:lnSpc>
              <a:buNone/>
              <a:defRPr lang="en-US" sz="1600" dirty="0">
                <a:solidFill>
                  <a:srgbClr val="2A1C0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0E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0941"/>
            <a:ext cx="10566400" cy="530860"/>
          </a:xfrm>
          <a:prstGeom prst="rect">
            <a:avLst/>
          </a:prstGeom>
          <a:noFill/>
          <a:ln/>
        </p:spPr>
        <p:txBody>
          <a:bodyPr wrap="square" lIns="0" tIns="0" rIns="0" bIns="0" rtlCol="0" anchor="t"/>
          <a:lstStyle>
            <a:lvl1pPr algn="l" indent="0" marL="0">
              <a:lnSpc>
                <a:spcPct val="115000"/>
              </a:lnSpc>
              <a:buNone/>
              <a:defRPr lang="en-US" sz="3800" dirty="0">
                <a:solidFill>
                  <a:srgbClr val="2A1C0E"/>
                </a:solidFill>
                <a:latin typeface="Georgia" pitchFamily="34" charset="0"/>
                <a:ea typeface="Georgia" pitchFamily="34" charset="-122"/>
                <a:cs typeface="Georgia"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2006601"/>
            <a:ext cx="10566400" cy="4038599"/>
          </a:xfrm>
          <a:prstGeom prst="rect">
            <a:avLst/>
          </a:prstGeom>
          <a:noFill/>
          <a:ln/>
        </p:spPr>
        <p:txBody>
          <a:bodyPr wrap="square" lIns="0" tIns="0" rIns="0" bIns="0" rtlCol="0" anchor="t"/>
          <a:lstStyle>
            <a:lvl1pPr algn="l" indent="0" marL="0">
              <a:lnSpc>
                <a:spcPct val="140000"/>
              </a:lnSpc>
              <a:buNone/>
              <a:defRPr lang="en-US" sz="1600" dirty="0">
                <a:solidFill>
                  <a:srgbClr val="2A1C0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C0E"/>
        </a:solidFill>
      </p:bgPr>
    </p:bg>
    <p:spTree>
      <p:nvGrpSpPr>
        <p:cNvPr id="1" name=""/>
        <p:cNvGrpSpPr/>
        <p:nvPr/>
      </p:nvGrpSpPr>
      <p:grpSpPr>
        <a:xfrm>
          <a:off x="0" y="0"/>
          <a:ext cx="0" cy="0"/>
          <a:chOff x="0" y="0"/>
          <a:chExt cx="0" cy="0"/>
        </a:xfrm>
      </p:grpSpPr>
      <p:sp>
        <p:nvSpPr>
          <p:cNvPr id="2" name="Text 0"/>
          <p:cNvSpPr/>
          <p:nvPr/>
        </p:nvSpPr>
        <p:spPr>
          <a:xfrm>
            <a:off x="812800" y="1671320"/>
            <a:ext cx="762000" cy="762000"/>
          </a:xfrm>
          <a:custGeom>
            <a:avLst/>
            <a:gdLst/>
            <a:ahLst/>
            <a:cxnLst/>
            <a:rect l="l" t="t" r="r" b="b"/>
            <a:pathLst>
              <a:path w="762000" h="762000">
                <a:moveTo>
                  <a:pt x="177800" y="0"/>
                </a:moveTo>
                <a:lnTo>
                  <a:pt x="584200" y="0"/>
                </a:lnTo>
                <a:arcTo hR="177800" wR="177800" stAng="16200000" swAng="5400000"/>
                <a:lnTo>
                  <a:pt x="762000" y="584200"/>
                </a:lnTo>
                <a:arcTo hR="177800" wR="177800" stAng="0" swAng="5400000"/>
                <a:lnTo>
                  <a:pt x="177800" y="762000"/>
                </a:lnTo>
                <a:arcTo hR="177800" wR="177800" stAng="5400000" swAng="5400000"/>
                <a:lnTo>
                  <a:pt x="0" y="177800"/>
                </a:lnTo>
                <a:arcTo hR="177800" wR="177800" stAng="10800000" swAng="5400000"/>
                <a:close/>
              </a:path>
            </a:pathLst>
          </a:custGeom>
          <a:gradFill rotWithShape="1">
            <a:gsLst>
              <a:gs pos="0">
                <a:srgbClr val="D9B877"/>
              </a:gs>
              <a:gs pos="100000">
                <a:srgbClr val="8A6A2F"/>
              </a:gs>
            </a:gsLst>
            <a:lin ang="2700000" scaled="0"/>
          </a:gradFill>
          <a:ln/>
        </p:spPr>
        <p:txBody>
          <a:bodyPr wrap="square" lIns="0" tIns="0" rIns="0" bIns="0" rtlCol="0" anchor="ctr">
            <a:normAutofit/>
          </a:bodyPr>
          <a:lstStyle/>
          <a:p>
            <a:pPr algn="ctr" indent="0" marL="0">
              <a:lnSpc>
                <a:spcPts val="3200"/>
              </a:lnSpc>
              <a:buNone/>
            </a:pPr>
            <a:r>
              <a:rPr lang="en-US" sz="3200" b="1" dirty="0">
                <a:solidFill>
                  <a:srgbClr val="2A1C0E"/>
                </a:solidFill>
                <a:latin typeface="Georgia" pitchFamily="18" charset="0"/>
                <a:ea typeface="Georgia" pitchFamily="18" charset="-122"/>
                <a:cs typeface="Georgia" pitchFamily="18" charset="-120"/>
              </a:rPr>
              <a:t>VC</a:t>
            </a:r>
            <a:endParaRPr lang="en-US" sz="3200" dirty="0"/>
          </a:p>
        </p:txBody>
      </p:sp>
      <p:sp>
        <p:nvSpPr>
          <p:cNvPr id="3" name="Text 1"/>
          <p:cNvSpPr/>
          <p:nvPr>
            <p:ph type="title"/>
          </p:nvPr>
        </p:nvSpPr>
        <p:spPr>
          <a:xfrm>
            <a:off x="812800" y="2611120"/>
            <a:ext cx="10883392" cy="1143000"/>
          </a:xfrm>
          <a:prstGeom prst="rect">
            <a:avLst/>
          </a:prstGeom>
          <a:noFill/>
          <a:ln/>
        </p:spPr>
        <p:txBody>
          <a:bodyPr wrap="square" lIns="0" tIns="0" rIns="0" bIns="0" rtlCol="0" anchor="t">
            <a:normAutofit/>
          </a:bodyPr>
          <a:lstStyle/>
          <a:p>
            <a:pPr algn="l" indent="0" marL="0">
              <a:lnSpc>
                <a:spcPts val="8800"/>
              </a:lnSpc>
              <a:buNone/>
            </a:pPr>
            <a:r>
              <a:rPr lang="en-US" sz="8800" b="0" i="0" dirty="0">
                <a:solidFill>
                  <a:srgbClr val="F6F0E2"/>
                </a:solidFill>
                <a:latin typeface="Georgia" pitchFamily="18" charset="0"/>
                <a:ea typeface="Georgia" pitchFamily="18" charset="-122"/>
                <a:cs typeface="Georgia" pitchFamily="18" charset="-120"/>
              </a:rPr>
              <a:t>VeriCred</a:t>
            </a:r>
            <a:endParaRPr lang="en-US" sz="8800" dirty="0"/>
          </a:p>
        </p:txBody>
      </p:sp>
      <p:sp>
        <p:nvSpPr>
          <p:cNvPr id="4" name="Text 2"/>
          <p:cNvSpPr/>
          <p:nvPr/>
        </p:nvSpPr>
        <p:spPr>
          <a:xfrm>
            <a:off x="812800" y="3906520"/>
            <a:ext cx="10883392" cy="39116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D9B877"/>
                </a:solidFill>
                <a:latin typeface="Arial" pitchFamily="34" charset="0"/>
                <a:ea typeface="Arial" pitchFamily="34" charset="-122"/>
                <a:cs typeface="Arial" pitchFamily="34" charset="-120"/>
              </a:rPr>
              <a:t>Verified Trust for the Gig Economy</a:t>
            </a:r>
            <a:endParaRPr lang="en-US" sz="2400" dirty="0"/>
          </a:p>
        </p:txBody>
      </p:sp>
      <p:sp>
        <p:nvSpPr>
          <p:cNvPr id="5" name="Text 3"/>
          <p:cNvSpPr/>
          <p:nvPr/>
        </p:nvSpPr>
        <p:spPr>
          <a:xfrm>
            <a:off x="812800" y="4450080"/>
            <a:ext cx="71945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BBBA0"/>
                </a:solidFill>
                <a:latin typeface="Arial" pitchFamily="34" charset="0"/>
                <a:ea typeface="Arial" pitchFamily="34" charset="-122"/>
                <a:cs typeface="Arial" pitchFamily="34" charset="-120"/>
              </a:rPr>
              <a:t>AI work-history scoring and a blockchain ledger for fair loan decisions on gig workers.</a:t>
            </a:r>
            <a:endParaRPr lang="en-US" sz="1500" dirty="0"/>
          </a:p>
        </p:txBody>
      </p:sp>
      <p:sp>
        <p:nvSpPr>
          <p:cNvPr id="6" name="Text 4"/>
          <p:cNvSpPr/>
          <p:nvPr/>
        </p:nvSpPr>
        <p:spPr>
          <a:xfrm>
            <a:off x="812800" y="6238240"/>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Team: CB.SC.U4CSE24730 · CB.SC.U4CSE24528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B281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D9B877"/>
                </a:solidFill>
                <a:latin typeface="Arial" pitchFamily="34" charset="0"/>
                <a:ea typeface="Arial" pitchFamily="34" charset="-122"/>
                <a:cs typeface="Arial" pitchFamily="34" charset="-120"/>
              </a:rPr>
              <a:t>THE PROBLEM</a:t>
            </a:r>
            <a:endParaRPr lang="en-US" sz="1300" dirty="0"/>
          </a:p>
        </p:txBody>
      </p:sp>
      <p:sp>
        <p:nvSpPr>
          <p:cNvPr id="3" name="Text 1"/>
          <p:cNvSpPr/>
          <p:nvPr>
            <p:ph type="title"/>
          </p:nvPr>
        </p:nvSpPr>
        <p:spPr>
          <a:xfrm>
            <a:off x="812800" y="1170940"/>
            <a:ext cx="10883392" cy="683736"/>
          </a:xfrm>
          <a:prstGeom prst="rect">
            <a:avLst/>
          </a:prstGeom>
          <a:noFill/>
          <a:ln/>
        </p:spPr>
        <p:txBody>
          <a:bodyPr wrap="square" lIns="0" tIns="0" rIns="0" bIns="0" rtlCol="0" anchor="t">
            <a:normAutofit/>
          </a:bodyPr>
          <a:lstStyle/>
          <a:p>
            <a:pPr algn="l" indent="0" marL="0">
              <a:lnSpc>
                <a:spcPts val="5184"/>
              </a:lnSpc>
              <a:buNone/>
            </a:pPr>
            <a:r>
              <a:rPr lang="en-US" sz="4800" b="0" i="0" dirty="0">
                <a:solidFill>
                  <a:srgbClr val="F6F0E2"/>
                </a:solidFill>
                <a:latin typeface="Georgia" pitchFamily="18" charset="0"/>
                <a:ea typeface="Georgia" pitchFamily="18" charset="-122"/>
                <a:cs typeface="Georgia" pitchFamily="18" charset="-120"/>
              </a:rPr>
              <a:t>Steady income. No paper trail.</a:t>
            </a:r>
            <a:endParaRPr lang="en-US" sz="4800" dirty="0"/>
          </a:p>
        </p:txBody>
      </p:sp>
      <p:sp>
        <p:nvSpPr>
          <p:cNvPr id="4" name="Shape 2"/>
          <p:cNvSpPr/>
          <p:nvPr/>
        </p:nvSpPr>
        <p:spPr>
          <a:xfrm>
            <a:off x="815975" y="4051935"/>
            <a:ext cx="3380264" cy="1786890"/>
          </a:xfrm>
          <a:prstGeom prst="roundRect">
            <a:avLst>
              <a:gd name="adj" fmla="val 6930"/>
            </a:avLst>
          </a:prstGeom>
          <a:solidFill>
            <a:srgbClr val="2A1C0E"/>
          </a:solidFill>
          <a:ln w="6350">
            <a:solidFill>
              <a:srgbClr val="6B5230"/>
            </a:solidFill>
            <a:prstDash val="solid"/>
          </a:ln>
        </p:spPr>
      </p:sp>
      <p:sp>
        <p:nvSpPr>
          <p:cNvPr id="5" name="Text 3"/>
          <p:cNvSpPr/>
          <p:nvPr/>
        </p:nvSpPr>
        <p:spPr>
          <a:xfrm>
            <a:off x="1097280" y="4333240"/>
            <a:ext cx="290218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B877"/>
                </a:solidFill>
                <a:latin typeface="Arial" pitchFamily="34" charset="0"/>
                <a:ea typeface="Arial" pitchFamily="34" charset="-122"/>
                <a:cs typeface="Arial" pitchFamily="34" charset="-120"/>
              </a:rPr>
              <a:t>No salary slip</a:t>
            </a:r>
            <a:endParaRPr lang="en-US" sz="2200" dirty="0"/>
          </a:p>
        </p:txBody>
      </p:sp>
      <p:sp>
        <p:nvSpPr>
          <p:cNvPr id="6" name="Text 4"/>
          <p:cNvSpPr/>
          <p:nvPr/>
        </p:nvSpPr>
        <p:spPr>
          <a:xfrm>
            <a:off x="1097280" y="4757420"/>
            <a:ext cx="290218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CC4"/>
                </a:solidFill>
                <a:latin typeface="Arial" pitchFamily="34" charset="0"/>
                <a:ea typeface="Arial" pitchFamily="34" charset="-122"/>
                <a:cs typeface="Arial" pitchFamily="34" charset="-120"/>
              </a:rPr>
              <a:t>Delivery and ride-hailing partners are paid per task, so banks have no payslip to read.</a:t>
            </a:r>
            <a:endParaRPr lang="en-US" sz="1500" dirty="0"/>
          </a:p>
        </p:txBody>
      </p:sp>
      <p:sp>
        <p:nvSpPr>
          <p:cNvPr id="7" name="Shape 5"/>
          <p:cNvSpPr/>
          <p:nvPr/>
        </p:nvSpPr>
        <p:spPr>
          <a:xfrm>
            <a:off x="4405789" y="4051935"/>
            <a:ext cx="3380343" cy="1786890"/>
          </a:xfrm>
          <a:prstGeom prst="roundRect">
            <a:avLst>
              <a:gd name="adj" fmla="val 6930"/>
            </a:avLst>
          </a:prstGeom>
          <a:solidFill>
            <a:srgbClr val="2A1C0E"/>
          </a:solidFill>
          <a:ln w="6350">
            <a:solidFill>
              <a:srgbClr val="6B5230"/>
            </a:solidFill>
            <a:prstDash val="solid"/>
          </a:ln>
        </p:spPr>
      </p:sp>
      <p:sp>
        <p:nvSpPr>
          <p:cNvPr id="8" name="Text 6"/>
          <p:cNvSpPr/>
          <p:nvPr/>
        </p:nvSpPr>
        <p:spPr>
          <a:xfrm>
            <a:off x="4687094" y="4333240"/>
            <a:ext cx="290226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B877"/>
                </a:solidFill>
                <a:latin typeface="Arial" pitchFamily="34" charset="0"/>
                <a:ea typeface="Arial" pitchFamily="34" charset="-122"/>
                <a:cs typeface="Arial" pitchFamily="34" charset="-120"/>
              </a:rPr>
              <a:t>No credit history</a:t>
            </a:r>
            <a:endParaRPr lang="en-US" sz="2200" dirty="0"/>
          </a:p>
        </p:txBody>
      </p:sp>
      <p:sp>
        <p:nvSpPr>
          <p:cNvPr id="9" name="Text 7"/>
          <p:cNvSpPr/>
          <p:nvPr/>
        </p:nvSpPr>
        <p:spPr>
          <a:xfrm>
            <a:off x="4687094" y="4757420"/>
            <a:ext cx="29022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CC4"/>
                </a:solidFill>
                <a:latin typeface="Arial" pitchFamily="34" charset="0"/>
                <a:ea typeface="Arial" pitchFamily="34" charset="-122"/>
                <a:cs typeface="Arial" pitchFamily="34" charset="-120"/>
              </a:rPr>
              <a:t>Many have never held a loan or card, so a CIBIL score is low or missing.</a:t>
            </a:r>
            <a:endParaRPr lang="en-US" sz="1500" dirty="0"/>
          </a:p>
        </p:txBody>
      </p:sp>
      <p:sp>
        <p:nvSpPr>
          <p:cNvPr id="10" name="Shape 8"/>
          <p:cNvSpPr/>
          <p:nvPr/>
        </p:nvSpPr>
        <p:spPr>
          <a:xfrm>
            <a:off x="7995682" y="4051935"/>
            <a:ext cx="3380343" cy="1786890"/>
          </a:xfrm>
          <a:prstGeom prst="roundRect">
            <a:avLst>
              <a:gd name="adj" fmla="val 6930"/>
            </a:avLst>
          </a:prstGeom>
          <a:solidFill>
            <a:srgbClr val="2A1C0E"/>
          </a:solidFill>
          <a:ln w="6350">
            <a:solidFill>
              <a:srgbClr val="6B5230"/>
            </a:solidFill>
            <a:prstDash val="solid"/>
          </a:ln>
        </p:spPr>
      </p:sp>
      <p:sp>
        <p:nvSpPr>
          <p:cNvPr id="11" name="Text 9"/>
          <p:cNvSpPr/>
          <p:nvPr/>
        </p:nvSpPr>
        <p:spPr>
          <a:xfrm>
            <a:off x="8276987" y="4333240"/>
            <a:ext cx="290226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D9B877"/>
                </a:solidFill>
                <a:latin typeface="Arial" pitchFamily="34" charset="0"/>
                <a:ea typeface="Arial" pitchFamily="34" charset="-122"/>
                <a:cs typeface="Arial" pitchFamily="34" charset="-120"/>
              </a:rPr>
              <a:t>No loan</a:t>
            </a:r>
            <a:endParaRPr lang="en-US" sz="2200" dirty="0"/>
          </a:p>
        </p:txBody>
      </p:sp>
      <p:sp>
        <p:nvSpPr>
          <p:cNvPr id="12" name="Text 10"/>
          <p:cNvSpPr/>
          <p:nvPr/>
        </p:nvSpPr>
        <p:spPr>
          <a:xfrm>
            <a:off x="8276987" y="4757420"/>
            <a:ext cx="29022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CC4"/>
                </a:solidFill>
                <a:latin typeface="Arial" pitchFamily="34" charset="0"/>
                <a:ea typeface="Arial" pitchFamily="34" charset="-122"/>
                <a:cs typeface="Arial" pitchFamily="34" charset="-120"/>
              </a:rPr>
              <a:t>Reliable workers are rejected, even though the proof of their work already exists.</a:t>
            </a:r>
            <a:endParaRPr lang="en-US" sz="1500" dirty="0"/>
          </a:p>
        </p:txBody>
      </p:sp>
      <p:sp>
        <p:nvSpPr>
          <p:cNvPr id="13" name="Text 11"/>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OUR IDEA</a:t>
            </a:r>
            <a:endParaRPr lang="en-US" sz="1300" dirty="0"/>
          </a:p>
        </p:txBody>
      </p:sp>
      <p:sp>
        <p:nvSpPr>
          <p:cNvPr id="3" name="Text 1"/>
          <p:cNvSpPr/>
          <p:nvPr>
            <p:ph type="title"/>
          </p:nvPr>
        </p:nvSpPr>
        <p:spPr>
          <a:xfrm>
            <a:off x="812800" y="1170941"/>
            <a:ext cx="10883392" cy="119888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2A1C0E"/>
                </a:solidFill>
                <a:latin typeface="Georgia" pitchFamily="18" charset="0"/>
                <a:ea typeface="Georgia" pitchFamily="18" charset="-122"/>
                <a:cs typeface="Georgia" pitchFamily="18" charset="-120"/>
              </a:rPr>
              <a:t>Turn work history into one verified score</a:t>
            </a:r>
            <a:endParaRPr lang="en-US" sz="4200" dirty="0"/>
          </a:p>
        </p:txBody>
      </p:sp>
      <p:sp>
        <p:nvSpPr>
          <p:cNvPr id="4" name="Shape 2"/>
          <p:cNvSpPr/>
          <p:nvPr/>
        </p:nvSpPr>
        <p:spPr>
          <a:xfrm>
            <a:off x="815975" y="3358516"/>
            <a:ext cx="3380264" cy="2480310"/>
          </a:xfrm>
          <a:prstGeom prst="roundRect">
            <a:avLst>
              <a:gd name="adj" fmla="val 4992"/>
            </a:avLst>
          </a:prstGeom>
          <a:solidFill>
            <a:srgbClr val="FFFBF0"/>
          </a:solidFill>
          <a:ln w="6350">
            <a:solidFill>
              <a:srgbClr val="D9C9A3"/>
            </a:solidFill>
            <a:prstDash val="solid"/>
          </a:ln>
        </p:spPr>
      </p:sp>
      <p:sp>
        <p:nvSpPr>
          <p:cNvPr id="5" name="Text 3"/>
          <p:cNvSpPr/>
          <p:nvPr/>
        </p:nvSpPr>
        <p:spPr>
          <a:xfrm>
            <a:off x="1097280" y="3639820"/>
            <a:ext cx="29021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08D57"/>
                </a:solidFill>
                <a:latin typeface="Georgia" pitchFamily="18" charset="0"/>
                <a:ea typeface="Georgia" pitchFamily="18" charset="-122"/>
                <a:cs typeface="Georgia" pitchFamily="18" charset="-120"/>
              </a:rPr>
              <a:t>1</a:t>
            </a:r>
            <a:endParaRPr lang="en-US" sz="4800" dirty="0"/>
          </a:p>
        </p:txBody>
      </p:sp>
      <p:sp>
        <p:nvSpPr>
          <p:cNvPr id="6" name="Text 4"/>
          <p:cNvSpPr/>
          <p:nvPr/>
        </p:nvSpPr>
        <p:spPr>
          <a:xfrm>
            <a:off x="1097280" y="4351020"/>
            <a:ext cx="290218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A1C0E"/>
                </a:solidFill>
                <a:latin typeface="Arial" pitchFamily="34" charset="0"/>
                <a:ea typeface="Arial" pitchFamily="34" charset="-122"/>
                <a:cs typeface="Arial" pitchFamily="34" charset="-120"/>
              </a:rPr>
              <a:t>Collect</a:t>
            </a:r>
            <a:endParaRPr lang="en-US" sz="2000" dirty="0"/>
          </a:p>
        </p:txBody>
      </p:sp>
      <p:sp>
        <p:nvSpPr>
          <p:cNvPr id="7" name="Text 5"/>
          <p:cNvSpPr/>
          <p:nvPr/>
        </p:nvSpPr>
        <p:spPr>
          <a:xfrm>
            <a:off x="1097280" y="4757420"/>
            <a:ext cx="290218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Ride and delivery records: ratings, cancellations, on-time rate, activity and payments.</a:t>
            </a:r>
            <a:endParaRPr lang="en-US" sz="1500" dirty="0"/>
          </a:p>
        </p:txBody>
      </p:sp>
      <p:sp>
        <p:nvSpPr>
          <p:cNvPr id="8" name="Shape 6"/>
          <p:cNvSpPr/>
          <p:nvPr/>
        </p:nvSpPr>
        <p:spPr>
          <a:xfrm>
            <a:off x="4405789" y="3358516"/>
            <a:ext cx="3380343" cy="2480310"/>
          </a:xfrm>
          <a:prstGeom prst="roundRect">
            <a:avLst>
              <a:gd name="adj" fmla="val 4992"/>
            </a:avLst>
          </a:prstGeom>
          <a:solidFill>
            <a:srgbClr val="FFFBF0"/>
          </a:solidFill>
          <a:ln w="6350">
            <a:solidFill>
              <a:srgbClr val="D9C9A3"/>
            </a:solidFill>
            <a:prstDash val="solid"/>
          </a:ln>
        </p:spPr>
      </p:sp>
      <p:sp>
        <p:nvSpPr>
          <p:cNvPr id="9" name="Text 7"/>
          <p:cNvSpPr/>
          <p:nvPr/>
        </p:nvSpPr>
        <p:spPr>
          <a:xfrm>
            <a:off x="4687094" y="3639820"/>
            <a:ext cx="290226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08D57"/>
                </a:solidFill>
                <a:latin typeface="Georgia" pitchFamily="18" charset="0"/>
                <a:ea typeface="Georgia" pitchFamily="18" charset="-122"/>
                <a:cs typeface="Georgia" pitchFamily="18" charset="-120"/>
              </a:rPr>
              <a:t>2</a:t>
            </a:r>
            <a:endParaRPr lang="en-US" sz="4800" dirty="0"/>
          </a:p>
        </p:txBody>
      </p:sp>
      <p:sp>
        <p:nvSpPr>
          <p:cNvPr id="10" name="Text 8"/>
          <p:cNvSpPr/>
          <p:nvPr/>
        </p:nvSpPr>
        <p:spPr>
          <a:xfrm>
            <a:off x="4687094" y="4351020"/>
            <a:ext cx="29022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A1C0E"/>
                </a:solidFill>
                <a:latin typeface="Arial" pitchFamily="34" charset="0"/>
                <a:ea typeface="Arial" pitchFamily="34" charset="-122"/>
                <a:cs typeface="Arial" pitchFamily="34" charset="-120"/>
              </a:rPr>
              <a:t>Score</a:t>
            </a:r>
            <a:endParaRPr lang="en-US" sz="2000" dirty="0"/>
          </a:p>
        </p:txBody>
      </p:sp>
      <p:sp>
        <p:nvSpPr>
          <p:cNvPr id="11" name="Text 9"/>
          <p:cNvSpPr/>
          <p:nvPr/>
        </p:nvSpPr>
        <p:spPr>
          <a:xfrm>
            <a:off x="4687094" y="4757420"/>
            <a:ext cx="29022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Seven weighted signals give an AI Work-History Score, blended with CIBIL into a Risk Meter.</a:t>
            </a:r>
            <a:endParaRPr lang="en-US" sz="1500" dirty="0"/>
          </a:p>
        </p:txBody>
      </p:sp>
      <p:sp>
        <p:nvSpPr>
          <p:cNvPr id="12" name="Shape 10"/>
          <p:cNvSpPr/>
          <p:nvPr/>
        </p:nvSpPr>
        <p:spPr>
          <a:xfrm>
            <a:off x="7995682" y="3358516"/>
            <a:ext cx="3380343" cy="2480310"/>
          </a:xfrm>
          <a:prstGeom prst="roundRect">
            <a:avLst>
              <a:gd name="adj" fmla="val 4992"/>
            </a:avLst>
          </a:prstGeom>
          <a:solidFill>
            <a:srgbClr val="FFFBF0"/>
          </a:solidFill>
          <a:ln w="6350">
            <a:solidFill>
              <a:srgbClr val="D9C9A3"/>
            </a:solidFill>
            <a:prstDash val="solid"/>
          </a:ln>
        </p:spPr>
      </p:sp>
      <p:sp>
        <p:nvSpPr>
          <p:cNvPr id="13" name="Text 11"/>
          <p:cNvSpPr/>
          <p:nvPr/>
        </p:nvSpPr>
        <p:spPr>
          <a:xfrm>
            <a:off x="8276987" y="3639820"/>
            <a:ext cx="290226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08D57"/>
                </a:solidFill>
                <a:latin typeface="Georgia" pitchFamily="18" charset="0"/>
                <a:ea typeface="Georgia" pitchFamily="18" charset="-122"/>
                <a:cs typeface="Georgia" pitchFamily="18" charset="-120"/>
              </a:rPr>
              <a:t>3</a:t>
            </a:r>
            <a:endParaRPr lang="en-US" sz="4800" dirty="0"/>
          </a:p>
        </p:txBody>
      </p:sp>
      <p:sp>
        <p:nvSpPr>
          <p:cNvPr id="14" name="Text 12"/>
          <p:cNvSpPr/>
          <p:nvPr/>
        </p:nvSpPr>
        <p:spPr>
          <a:xfrm>
            <a:off x="8276987" y="4351020"/>
            <a:ext cx="29022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A1C0E"/>
                </a:solidFill>
                <a:latin typeface="Arial" pitchFamily="34" charset="0"/>
                <a:ea typeface="Arial" pitchFamily="34" charset="-122"/>
                <a:cs typeface="Arial" pitchFamily="34" charset="-120"/>
              </a:rPr>
              <a:t>Verify</a:t>
            </a:r>
            <a:endParaRPr lang="en-US" sz="2000" dirty="0"/>
          </a:p>
        </p:txBody>
      </p:sp>
      <p:sp>
        <p:nvSpPr>
          <p:cNvPr id="15" name="Text 13"/>
          <p:cNvSpPr/>
          <p:nvPr/>
        </p:nvSpPr>
        <p:spPr>
          <a:xfrm>
            <a:off x="8276987" y="4757420"/>
            <a:ext cx="29022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Every officer decision is hash-linked on a ledger, so any later change is visible.</a:t>
            </a:r>
            <a:endParaRPr lang="en-US" sz="1500" dirty="0"/>
          </a:p>
        </p:txBody>
      </p:sp>
      <p:sp>
        <p:nvSpPr>
          <p:cNvPr id="16" name="Text 14"/>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AI WORK-HISTORY SCORE</a:t>
            </a:r>
            <a:endParaRPr lang="en-US" sz="1300" dirty="0"/>
          </a:p>
        </p:txBody>
      </p:sp>
      <p:sp>
        <p:nvSpPr>
          <p:cNvPr id="3" name="Text 1"/>
          <p:cNvSpPr/>
          <p:nvPr>
            <p:ph type="title"/>
          </p:nvPr>
        </p:nvSpPr>
        <p:spPr>
          <a:xfrm>
            <a:off x="812800" y="1170941"/>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Seven signals, one score</a:t>
            </a:r>
            <a:endParaRPr lang="en-US" sz="3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0560"/>
          <a:ext cx="6339840" cy="3495040"/>
        </p:xfrm>
        <a:graphic>
          <a:graphicData uri="http://schemas.openxmlformats.org/drawingml/2006/table">
            <a:tbl>
              <a:tblPr/>
              <a:tblGrid>
                <a:gridCol w="4437888"/>
                <a:gridCol w="1901952"/>
              </a:tblGrid>
              <a:tr h="436880">
                <a:tc>
                  <a:txBody>
                    <a:bodyPr/>
                    <a:lstStyle/>
                    <a:p>
                      <a:pPr indent="0" marL="0">
                        <a:lnSpc>
                          <a:spcPts val="2240"/>
                        </a:lnSpc>
                        <a:buNone/>
                      </a:pPr>
                      <a:r>
                        <a:rPr lang="en-US" sz="1600" b="1" dirty="0">
                          <a:solidFill>
                            <a:srgbClr val="F6F0E2"/>
                          </a:solidFill>
                          <a:latin typeface="Arial" pitchFamily="34" charset="0"/>
                          <a:ea typeface="Arial" pitchFamily="34" charset="-122"/>
                          <a:cs typeface="Arial" pitchFamily="34" charset="-120"/>
                        </a:rPr>
                        <a:t>Signal</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c>
                  <a:txBody>
                    <a:bodyPr/>
                    <a:lstStyle/>
                    <a:p>
                      <a:pPr algn="r" indent="0" marL="0">
                        <a:lnSpc>
                          <a:spcPts val="2240"/>
                        </a:lnSpc>
                        <a:buNone/>
                      </a:pPr>
                      <a:r>
                        <a:rPr lang="en-US" sz="1600" b="1" dirty="0">
                          <a:solidFill>
                            <a:srgbClr val="F6F0E2"/>
                          </a:solidFill>
                          <a:latin typeface="Arial" pitchFamily="34" charset="0"/>
                          <a:ea typeface="Arial" pitchFamily="34" charset="-122"/>
                          <a:cs typeface="Arial" pitchFamily="34" charset="-120"/>
                        </a:rPr>
                        <a:t>Weight</a:t>
                      </a:r>
                      <a:endParaRPr lang="en-US" sz="1600" dirty="0">
                        <a:latin typeface="Arial" charset="0"/>
                        <a:ea typeface="Arial" charset="0"/>
                        <a:cs typeface="Arial" charset="0"/>
                      </a:endParaRPr>
                    </a:p>
                  </a:txBody>
                  <a:tcPr marL="71120" marR="71120" marT="71120" marB="71120" anchor="t">
                    <a:lnL w="12700" cap="flat" cmpd="sng" algn="ctr">
                      <a:solidFill>
                        <a:srgbClr val="251A0F"/>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Customer rating</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25%</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Cancellations (reliability)</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20%</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On-time completion</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20%</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Activity consistency</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15%</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Complaint-free rate</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Digital payment use</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Earnings stability</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bl>
          </a:graphicData>
        </a:graphic>
      </p:graphicFrame>
      <p:sp>
        <p:nvSpPr>
          <p:cNvPr id="5" name="Shape 2"/>
          <p:cNvSpPr/>
          <p:nvPr/>
        </p:nvSpPr>
        <p:spPr>
          <a:xfrm>
            <a:off x="7518400" y="1930400"/>
            <a:ext cx="3860800" cy="3505200"/>
          </a:xfrm>
          <a:prstGeom prst="roundRect">
            <a:avLst>
              <a:gd name="adj" fmla="val 4348"/>
            </a:avLst>
          </a:prstGeom>
          <a:solidFill>
            <a:srgbClr val="2A1C0E"/>
          </a:solidFill>
          <a:ln/>
        </p:spPr>
      </p:sp>
      <p:sp>
        <p:nvSpPr>
          <p:cNvPr id="6" name="Text 3"/>
          <p:cNvSpPr/>
          <p:nvPr/>
        </p:nvSpPr>
        <p:spPr>
          <a:xfrm>
            <a:off x="7823200" y="2595880"/>
            <a:ext cx="3348736"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D9B877"/>
                </a:solidFill>
                <a:latin typeface="Arial" pitchFamily="34" charset="0"/>
                <a:ea typeface="Arial" pitchFamily="34" charset="-122"/>
                <a:cs typeface="Arial" pitchFamily="34" charset="-120"/>
              </a:rPr>
              <a:t>EXAMPLE</a:t>
            </a:r>
            <a:endParaRPr lang="en-US" sz="1300" dirty="0"/>
          </a:p>
        </p:txBody>
      </p:sp>
      <p:sp>
        <p:nvSpPr>
          <p:cNvPr id="7" name="Text 4"/>
          <p:cNvSpPr/>
          <p:nvPr/>
        </p:nvSpPr>
        <p:spPr>
          <a:xfrm>
            <a:off x="7823200" y="2954020"/>
            <a:ext cx="3348736"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F6F0E2"/>
                </a:solidFill>
                <a:latin typeface="Georgia" pitchFamily="18" charset="0"/>
                <a:ea typeface="Georgia" pitchFamily="18" charset="-122"/>
                <a:cs typeface="Georgia" pitchFamily="18" charset="-120"/>
              </a:rPr>
              <a:t>93.85</a:t>
            </a:r>
            <a:endParaRPr lang="en-US" sz="7000" dirty="0"/>
          </a:p>
        </p:txBody>
      </p:sp>
      <p:sp>
        <p:nvSpPr>
          <p:cNvPr id="8" name="Text 5"/>
          <p:cNvSpPr/>
          <p:nvPr/>
        </p:nvSpPr>
        <p:spPr>
          <a:xfrm>
            <a:off x="7823200" y="3970020"/>
            <a:ext cx="334873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CC4"/>
                </a:solidFill>
                <a:latin typeface="Arial" pitchFamily="34" charset="0"/>
                <a:ea typeface="Arial" pitchFamily="34" charset="-122"/>
                <a:cs typeface="Arial" pitchFamily="34" charset="-120"/>
              </a:rPr>
              <a:t>Arun Kumar Selvam: over 6,000 completed rides, a high rating and very few cancellations.</a:t>
            </a:r>
            <a:endParaRPr lang="en-US" sz="1500" dirty="0"/>
          </a:p>
        </p:txBody>
      </p:sp>
      <p:sp>
        <p:nvSpPr>
          <p:cNvPr id="9" name="Text 6"/>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RISK METER</a:t>
            </a:r>
            <a:endParaRPr lang="en-US" sz="1300" dirty="0"/>
          </a:p>
        </p:txBody>
      </p:sp>
      <p:sp>
        <p:nvSpPr>
          <p:cNvPr id="3" name="Text 1"/>
          <p:cNvSpPr/>
          <p:nvPr>
            <p:ph type="title"/>
          </p:nvPr>
        </p:nvSpPr>
        <p:spPr>
          <a:xfrm>
            <a:off x="812800" y="1170939"/>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One number the officer can act on</a:t>
            </a:r>
            <a:endParaRPr lang="en-US" sz="3800" dirty="0"/>
          </a:p>
        </p:txBody>
      </p:sp>
      <p:sp>
        <p:nvSpPr>
          <p:cNvPr id="4" name="Shape 2"/>
          <p:cNvSpPr/>
          <p:nvPr/>
        </p:nvSpPr>
        <p:spPr>
          <a:xfrm>
            <a:off x="812800" y="2052321"/>
            <a:ext cx="5224780" cy="2880360"/>
          </a:xfrm>
          <a:prstGeom prst="roundRect">
            <a:avLst>
              <a:gd name="adj" fmla="val 4409"/>
            </a:avLst>
          </a:prstGeom>
          <a:solidFill>
            <a:srgbClr val="2A1C0E"/>
          </a:solidFill>
          <a:ln/>
        </p:spPr>
      </p:sp>
      <p:sp>
        <p:nvSpPr>
          <p:cNvPr id="5" name="Text 3"/>
          <p:cNvSpPr/>
          <p:nvPr/>
        </p:nvSpPr>
        <p:spPr>
          <a:xfrm>
            <a:off x="1092200" y="2331721"/>
            <a:ext cx="4805959" cy="723900"/>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D9B877"/>
                </a:solidFill>
                <a:latin typeface="Georgia" pitchFamily="18" charset="0"/>
                <a:ea typeface="Georgia" pitchFamily="18" charset="-122"/>
                <a:cs typeface="Georgia" pitchFamily="18" charset="-120"/>
              </a:rPr>
              <a:t>55%</a:t>
            </a:r>
            <a:endParaRPr lang="en-US" sz="5500" dirty="0"/>
          </a:p>
        </p:txBody>
      </p:sp>
      <p:sp>
        <p:nvSpPr>
          <p:cNvPr id="6" name="Text 4"/>
          <p:cNvSpPr/>
          <p:nvPr/>
        </p:nvSpPr>
        <p:spPr>
          <a:xfrm>
            <a:off x="1092200" y="3106421"/>
            <a:ext cx="480595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0E2"/>
                </a:solidFill>
                <a:latin typeface="Arial" pitchFamily="34" charset="0"/>
                <a:ea typeface="Arial" pitchFamily="34" charset="-122"/>
                <a:cs typeface="Arial" pitchFamily="34" charset="-120"/>
              </a:rPr>
              <a:t>AI Work-History</a:t>
            </a:r>
            <a:endParaRPr lang="en-US" sz="1800" dirty="0"/>
          </a:p>
        </p:txBody>
      </p:sp>
      <p:sp>
        <p:nvSpPr>
          <p:cNvPr id="7" name="Text 5"/>
          <p:cNvSpPr/>
          <p:nvPr/>
        </p:nvSpPr>
        <p:spPr>
          <a:xfrm>
            <a:off x="1092200" y="3456939"/>
            <a:ext cx="480595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CC4"/>
                </a:solidFill>
                <a:latin typeface="Arial" pitchFamily="34" charset="0"/>
                <a:ea typeface="Arial" pitchFamily="34" charset="-122"/>
                <a:cs typeface="Arial" pitchFamily="34" charset="-120"/>
              </a:rPr>
              <a:t>The seven-signal score</a:t>
            </a:r>
            <a:endParaRPr lang="en-US" sz="1400" dirty="0"/>
          </a:p>
        </p:txBody>
      </p:sp>
      <p:sp>
        <p:nvSpPr>
          <p:cNvPr id="8" name="Shape 6"/>
          <p:cNvSpPr/>
          <p:nvPr/>
        </p:nvSpPr>
        <p:spPr>
          <a:xfrm>
            <a:off x="6240780" y="2052321"/>
            <a:ext cx="3103880" cy="2880360"/>
          </a:xfrm>
          <a:prstGeom prst="roundRect">
            <a:avLst>
              <a:gd name="adj" fmla="val 4409"/>
            </a:avLst>
          </a:prstGeom>
          <a:solidFill>
            <a:srgbClr val="6B4A22"/>
          </a:solidFill>
          <a:ln/>
        </p:spPr>
      </p:sp>
      <p:sp>
        <p:nvSpPr>
          <p:cNvPr id="9" name="Text 7"/>
          <p:cNvSpPr/>
          <p:nvPr/>
        </p:nvSpPr>
        <p:spPr>
          <a:xfrm>
            <a:off x="6520180" y="2331721"/>
            <a:ext cx="2621433" cy="723900"/>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F6F0E2"/>
                </a:solidFill>
                <a:latin typeface="Georgia" pitchFamily="18" charset="0"/>
                <a:ea typeface="Georgia" pitchFamily="18" charset="-122"/>
                <a:cs typeface="Georgia" pitchFamily="18" charset="-120"/>
              </a:rPr>
              <a:t>30%</a:t>
            </a:r>
            <a:endParaRPr lang="en-US" sz="5500" dirty="0"/>
          </a:p>
        </p:txBody>
      </p:sp>
      <p:sp>
        <p:nvSpPr>
          <p:cNvPr id="10" name="Text 8"/>
          <p:cNvSpPr/>
          <p:nvPr/>
        </p:nvSpPr>
        <p:spPr>
          <a:xfrm>
            <a:off x="6520180" y="3106421"/>
            <a:ext cx="26214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0E2"/>
                </a:solidFill>
                <a:latin typeface="Arial" pitchFamily="34" charset="0"/>
                <a:ea typeface="Arial" pitchFamily="34" charset="-122"/>
                <a:cs typeface="Arial" pitchFamily="34" charset="-120"/>
              </a:rPr>
              <a:t>CIBIL</a:t>
            </a:r>
            <a:endParaRPr lang="en-US" sz="1800" dirty="0"/>
          </a:p>
        </p:txBody>
      </p:sp>
      <p:sp>
        <p:nvSpPr>
          <p:cNvPr id="11" name="Text 9"/>
          <p:cNvSpPr/>
          <p:nvPr/>
        </p:nvSpPr>
        <p:spPr>
          <a:xfrm>
            <a:off x="6520180" y="3456939"/>
            <a:ext cx="262143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E4CC"/>
                </a:solidFill>
                <a:latin typeface="Arial" pitchFamily="34" charset="0"/>
                <a:ea typeface="Arial" pitchFamily="34" charset="-122"/>
                <a:cs typeface="Arial" pitchFamily="34" charset="-120"/>
              </a:rPr>
              <a:t>Formal credit score</a:t>
            </a:r>
            <a:endParaRPr lang="en-US" sz="1400" dirty="0"/>
          </a:p>
        </p:txBody>
      </p:sp>
      <p:sp>
        <p:nvSpPr>
          <p:cNvPr id="12" name="Shape 10"/>
          <p:cNvSpPr/>
          <p:nvPr/>
        </p:nvSpPr>
        <p:spPr>
          <a:xfrm>
            <a:off x="9547860" y="2052321"/>
            <a:ext cx="1831340" cy="2880360"/>
          </a:xfrm>
          <a:prstGeom prst="roundRect">
            <a:avLst>
              <a:gd name="adj" fmla="val 6935"/>
            </a:avLst>
          </a:prstGeom>
          <a:solidFill>
            <a:srgbClr val="B08D57"/>
          </a:solidFill>
          <a:ln/>
        </p:spPr>
      </p:sp>
      <p:sp>
        <p:nvSpPr>
          <p:cNvPr id="13" name="Text 11"/>
          <p:cNvSpPr/>
          <p:nvPr/>
        </p:nvSpPr>
        <p:spPr>
          <a:xfrm>
            <a:off x="9827260" y="2331721"/>
            <a:ext cx="1323340" cy="1422400"/>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2A1C0E"/>
                </a:solidFill>
                <a:latin typeface="Georgia" pitchFamily="18" charset="0"/>
                <a:ea typeface="Georgia" pitchFamily="18" charset="-122"/>
                <a:cs typeface="Georgia" pitchFamily="18" charset="-120"/>
              </a:rPr>
              <a:t>15%</a:t>
            </a:r>
            <a:endParaRPr lang="en-US" sz="5500" dirty="0"/>
          </a:p>
        </p:txBody>
      </p:sp>
      <p:sp>
        <p:nvSpPr>
          <p:cNvPr id="14" name="Text 12"/>
          <p:cNvSpPr/>
          <p:nvPr/>
        </p:nvSpPr>
        <p:spPr>
          <a:xfrm>
            <a:off x="9827260" y="3804921"/>
            <a:ext cx="13233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C0E"/>
                </a:solidFill>
                <a:latin typeface="Arial" pitchFamily="34" charset="0"/>
                <a:ea typeface="Arial" pitchFamily="34" charset="-122"/>
                <a:cs typeface="Arial" pitchFamily="34" charset="-120"/>
              </a:rPr>
              <a:t>Balance</a:t>
            </a:r>
            <a:endParaRPr lang="en-US" sz="1800" dirty="0"/>
          </a:p>
        </p:txBody>
      </p:sp>
      <p:sp>
        <p:nvSpPr>
          <p:cNvPr id="15" name="Text 13"/>
          <p:cNvSpPr/>
          <p:nvPr/>
        </p:nvSpPr>
        <p:spPr>
          <a:xfrm>
            <a:off x="9827260" y="4155439"/>
            <a:ext cx="132334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C0E"/>
                </a:solidFill>
                <a:latin typeface="Arial" pitchFamily="34" charset="0"/>
                <a:ea typeface="Arial" pitchFamily="34" charset="-122"/>
                <a:cs typeface="Arial" pitchFamily="34" charset="-120"/>
              </a:rPr>
              <a:t>Bank balance adequacy</a:t>
            </a:r>
            <a:endParaRPr lang="en-US" sz="1400" dirty="0"/>
          </a:p>
        </p:txBody>
      </p:sp>
      <p:sp>
        <p:nvSpPr>
          <p:cNvPr id="16" name="Text 14"/>
          <p:cNvSpPr/>
          <p:nvPr/>
        </p:nvSpPr>
        <p:spPr>
          <a:xfrm>
            <a:off x="819150" y="5289550"/>
            <a:ext cx="3407807" cy="546100"/>
          </a:xfrm>
          <a:prstGeom prst="roundRect">
            <a:avLst>
              <a:gd name="adj" fmla="val 15116"/>
            </a:avLst>
          </a:prstGeom>
          <a:solidFill>
            <a:srgbClr val="FFFBF0"/>
          </a:solidFill>
          <a:ln w="12700">
            <a:solidFill>
              <a:srgbClr val="8A6A2F"/>
            </a:solidFill>
            <a:prstDash val="solid"/>
          </a:ln>
        </p:spPr>
        <p:txBody>
          <a:bodyPr wrap="square" lIns="157432" tIns="106632" rIns="66094" bIns="81232" rtlCol="0" anchor="t">
            <a:normAutofit/>
          </a:bodyPr>
          <a:lstStyle/>
          <a:p>
            <a:pPr algn="l" indent="0" marL="0">
              <a:lnSpc>
                <a:spcPts val="2240"/>
              </a:lnSpc>
              <a:buNone/>
            </a:pPr>
            <a:r>
              <a:rPr lang="en-US" sz="1600" b="1" dirty="0">
                <a:solidFill>
                  <a:srgbClr val="2A1C0E"/>
                </a:solidFill>
                <a:latin typeface="Arial" pitchFamily="34" charset="0"/>
                <a:ea typeface="Arial" pitchFamily="34" charset="-122"/>
                <a:cs typeface="Arial" pitchFamily="34" charset="-120"/>
              </a:rPr>
              <a:t>75 and above: Low Risk</a:t>
            </a:r>
            <a:endParaRPr lang="en-US" sz="1600" dirty="0"/>
          </a:p>
        </p:txBody>
      </p:sp>
      <p:sp>
        <p:nvSpPr>
          <p:cNvPr id="17" name="Text 15"/>
          <p:cNvSpPr/>
          <p:nvPr/>
        </p:nvSpPr>
        <p:spPr>
          <a:xfrm>
            <a:off x="4392057" y="5289550"/>
            <a:ext cx="3407886" cy="546100"/>
          </a:xfrm>
          <a:prstGeom prst="roundRect">
            <a:avLst>
              <a:gd name="adj" fmla="val 15116"/>
            </a:avLst>
          </a:prstGeom>
          <a:solidFill>
            <a:srgbClr val="FFFBF0"/>
          </a:solidFill>
          <a:ln w="12700">
            <a:solidFill>
              <a:srgbClr val="B5541F"/>
            </a:solidFill>
            <a:prstDash val="solid"/>
          </a:ln>
        </p:spPr>
        <p:txBody>
          <a:bodyPr wrap="square" lIns="157432" tIns="106632" rIns="66092" bIns="81232" rtlCol="0" anchor="t">
            <a:normAutofit/>
          </a:bodyPr>
          <a:lstStyle/>
          <a:p>
            <a:pPr algn="l" indent="0" marL="0">
              <a:lnSpc>
                <a:spcPts val="2240"/>
              </a:lnSpc>
              <a:buNone/>
            </a:pPr>
            <a:r>
              <a:rPr lang="en-US" sz="1600" b="1" dirty="0">
                <a:solidFill>
                  <a:srgbClr val="2A1C0E"/>
                </a:solidFill>
                <a:latin typeface="Arial" pitchFamily="34" charset="0"/>
                <a:ea typeface="Arial" pitchFamily="34" charset="-122"/>
                <a:cs typeface="Arial" pitchFamily="34" charset="-120"/>
              </a:rPr>
              <a:t>50 to 74: Moderate Risk</a:t>
            </a:r>
            <a:endParaRPr lang="en-US" sz="1600" dirty="0"/>
          </a:p>
        </p:txBody>
      </p:sp>
      <p:sp>
        <p:nvSpPr>
          <p:cNvPr id="18" name="Text 16"/>
          <p:cNvSpPr/>
          <p:nvPr/>
        </p:nvSpPr>
        <p:spPr>
          <a:xfrm>
            <a:off x="7965043" y="5289550"/>
            <a:ext cx="3407807" cy="546100"/>
          </a:xfrm>
          <a:prstGeom prst="roundRect">
            <a:avLst>
              <a:gd name="adj" fmla="val 15116"/>
            </a:avLst>
          </a:prstGeom>
          <a:solidFill>
            <a:srgbClr val="FFFBF0"/>
          </a:solidFill>
          <a:ln w="12700">
            <a:solidFill>
              <a:srgbClr val="9B2D20"/>
            </a:solidFill>
            <a:prstDash val="solid"/>
          </a:ln>
        </p:spPr>
        <p:txBody>
          <a:bodyPr wrap="square" lIns="157432" tIns="106632" rIns="66094" bIns="81232" rtlCol="0" anchor="t">
            <a:normAutofit/>
          </a:bodyPr>
          <a:lstStyle/>
          <a:p>
            <a:pPr algn="l" indent="0" marL="0">
              <a:lnSpc>
                <a:spcPts val="2240"/>
              </a:lnSpc>
              <a:buNone/>
            </a:pPr>
            <a:r>
              <a:rPr lang="en-US" sz="1600" b="1" dirty="0">
                <a:solidFill>
                  <a:srgbClr val="2A1C0E"/>
                </a:solidFill>
                <a:latin typeface="Arial" pitchFamily="34" charset="0"/>
                <a:ea typeface="Arial" pitchFamily="34" charset="-122"/>
                <a:cs typeface="Arial" pitchFamily="34" charset="-120"/>
              </a:rPr>
              <a:t>Below 50: High Risk</a:t>
            </a:r>
            <a:endParaRPr lang="en-US" sz="1600" dirty="0"/>
          </a:p>
        </p:txBody>
      </p:sp>
      <p:sp>
        <p:nvSpPr>
          <p:cNvPr id="19"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1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D9B877"/>
                </a:solidFill>
                <a:latin typeface="Arial" pitchFamily="34" charset="0"/>
                <a:ea typeface="Arial" pitchFamily="34" charset="-122"/>
                <a:cs typeface="Arial" pitchFamily="34" charset="-120"/>
              </a:rPr>
              <a:t>SYSTEM ARCHITECTURE</a:t>
            </a:r>
            <a:endParaRPr lang="en-US" sz="1300" dirty="0"/>
          </a:p>
        </p:txBody>
      </p:sp>
      <p:sp>
        <p:nvSpPr>
          <p:cNvPr id="3" name="Text 1"/>
          <p:cNvSpPr/>
          <p:nvPr>
            <p:ph type="title"/>
          </p:nvPr>
        </p:nvSpPr>
        <p:spPr>
          <a:xfrm>
            <a:off x="812800" y="1170939"/>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6F0E2"/>
                </a:solidFill>
                <a:latin typeface="Georgia" pitchFamily="18" charset="0"/>
                <a:ea typeface="Georgia" pitchFamily="18" charset="-122"/>
                <a:cs typeface="Georgia" pitchFamily="18" charset="-120"/>
              </a:rPr>
              <a:t>Five layers, one direction of flow</a:t>
            </a:r>
            <a:endParaRPr lang="en-US" sz="3800" dirty="0"/>
          </a:p>
        </p:txBody>
      </p:sp>
      <p:sp>
        <p:nvSpPr>
          <p:cNvPr id="4" name="Shape 2"/>
          <p:cNvSpPr/>
          <p:nvPr/>
        </p:nvSpPr>
        <p:spPr>
          <a:xfrm>
            <a:off x="815975" y="3042921"/>
            <a:ext cx="1743154" cy="1191260"/>
          </a:xfrm>
          <a:prstGeom prst="roundRect">
            <a:avLst>
              <a:gd name="adj" fmla="val 9328"/>
            </a:avLst>
          </a:prstGeom>
          <a:solidFill>
            <a:srgbClr val="3B2814"/>
          </a:solidFill>
          <a:ln w="6350">
            <a:solidFill>
              <a:srgbClr val="6B5230"/>
            </a:solidFill>
            <a:prstDash val="solid"/>
          </a:ln>
        </p:spPr>
      </p:sp>
      <p:sp>
        <p:nvSpPr>
          <p:cNvPr id="5" name="Text 3"/>
          <p:cNvSpPr/>
          <p:nvPr/>
        </p:nvSpPr>
        <p:spPr>
          <a:xfrm>
            <a:off x="970280" y="3248025"/>
            <a:ext cx="148534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9B877"/>
                </a:solidFill>
                <a:latin typeface="Arial" pitchFamily="34" charset="0"/>
                <a:ea typeface="Arial" pitchFamily="34" charset="-122"/>
                <a:cs typeface="Arial" pitchFamily="34" charset="-120"/>
              </a:rPr>
              <a:t>Ride data</a:t>
            </a:r>
            <a:endParaRPr lang="en-US" sz="1700" dirty="0"/>
          </a:p>
        </p:txBody>
      </p:sp>
      <p:sp>
        <p:nvSpPr>
          <p:cNvPr id="6" name="Text 4"/>
          <p:cNvSpPr/>
          <p:nvPr/>
        </p:nvSpPr>
        <p:spPr>
          <a:xfrm>
            <a:off x="970280" y="3583307"/>
            <a:ext cx="148534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DCC4"/>
                </a:solidFill>
                <a:latin typeface="Arial" pitchFamily="34" charset="0"/>
                <a:ea typeface="Arial" pitchFamily="34" charset="-122"/>
                <a:cs typeface="Arial" pitchFamily="34" charset="-120"/>
              </a:rPr>
              <a:t>CSV work history per worker</a:t>
            </a:r>
            <a:endParaRPr lang="en-US" sz="1300" dirty="0"/>
          </a:p>
        </p:txBody>
      </p:sp>
      <p:pic>
        <p:nvPicPr>
          <p:cNvPr id="7" name="Image 0" descr="arrow-right">    </p:cNvPr>
          <p:cNvPicPr>
            <a:picLocks noChangeAspect="1"/>
          </p:cNvPicPr>
          <p:nvPr/>
        </p:nvPicPr>
        <p:blipFill>
          <a:blip r:embed="rId1"/>
          <a:srcRect l="0" r="0" t="0" b="0"/>
          <a:stretch/>
        </p:blipFill>
        <p:spPr>
          <a:xfrm>
            <a:off x="2651204" y="3524250"/>
            <a:ext cx="279400" cy="228600"/>
          </a:xfrm>
          <a:prstGeom prst="rect">
            <a:avLst/>
          </a:prstGeom>
        </p:spPr>
      </p:pic>
      <p:sp>
        <p:nvSpPr>
          <p:cNvPr id="8" name="Shape 5"/>
          <p:cNvSpPr/>
          <p:nvPr/>
        </p:nvSpPr>
        <p:spPr>
          <a:xfrm>
            <a:off x="3022679" y="3042921"/>
            <a:ext cx="1743234" cy="1191260"/>
          </a:xfrm>
          <a:prstGeom prst="roundRect">
            <a:avLst>
              <a:gd name="adj" fmla="val 9328"/>
            </a:avLst>
          </a:prstGeom>
          <a:solidFill>
            <a:srgbClr val="3B2814"/>
          </a:solidFill>
          <a:ln w="6350">
            <a:solidFill>
              <a:srgbClr val="6B5230"/>
            </a:solidFill>
            <a:prstDash val="solid"/>
          </a:ln>
        </p:spPr>
      </p:sp>
      <p:sp>
        <p:nvSpPr>
          <p:cNvPr id="9" name="Text 6"/>
          <p:cNvSpPr/>
          <p:nvPr/>
        </p:nvSpPr>
        <p:spPr>
          <a:xfrm>
            <a:off x="3176984" y="3248025"/>
            <a:ext cx="14854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9B877"/>
                </a:solidFill>
                <a:latin typeface="Arial" pitchFamily="34" charset="0"/>
                <a:ea typeface="Arial" pitchFamily="34" charset="-122"/>
                <a:cs typeface="Arial" pitchFamily="34" charset="-120"/>
              </a:rPr>
              <a:t>Scoring</a:t>
            </a:r>
            <a:endParaRPr lang="en-US" sz="1700" dirty="0"/>
          </a:p>
        </p:txBody>
      </p:sp>
      <p:sp>
        <p:nvSpPr>
          <p:cNvPr id="10" name="Text 7"/>
          <p:cNvSpPr/>
          <p:nvPr/>
        </p:nvSpPr>
        <p:spPr>
          <a:xfrm>
            <a:off x="3176984" y="3583307"/>
            <a:ext cx="148542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DCC4"/>
                </a:solidFill>
                <a:latin typeface="Arial" pitchFamily="34" charset="0"/>
                <a:ea typeface="Arial" pitchFamily="34" charset="-122"/>
                <a:cs typeface="Arial" pitchFamily="34" charset="-120"/>
              </a:rPr>
              <a:t>Seven signals to AI score</a:t>
            </a:r>
            <a:endParaRPr lang="en-US" sz="1300" dirty="0"/>
          </a:p>
        </p:txBody>
      </p:sp>
      <p:pic>
        <p:nvPicPr>
          <p:cNvPr id="11" name="Image 1" descr="arrow-right">    </p:cNvPr>
          <p:cNvPicPr>
            <a:picLocks noChangeAspect="1"/>
          </p:cNvPicPr>
          <p:nvPr/>
        </p:nvPicPr>
        <p:blipFill>
          <a:blip r:embed="rId2"/>
          <a:srcRect l="0" r="0" t="0" b="0"/>
          <a:stretch/>
        </p:blipFill>
        <p:spPr>
          <a:xfrm>
            <a:off x="4857988" y="3524250"/>
            <a:ext cx="279400" cy="228600"/>
          </a:xfrm>
          <a:prstGeom prst="rect">
            <a:avLst/>
          </a:prstGeom>
        </p:spPr>
      </p:pic>
      <p:sp>
        <p:nvSpPr>
          <p:cNvPr id="12" name="Shape 8"/>
          <p:cNvSpPr/>
          <p:nvPr/>
        </p:nvSpPr>
        <p:spPr>
          <a:xfrm>
            <a:off x="5229463" y="3042921"/>
            <a:ext cx="1743154" cy="1191260"/>
          </a:xfrm>
          <a:prstGeom prst="roundRect">
            <a:avLst>
              <a:gd name="adj" fmla="val 9328"/>
            </a:avLst>
          </a:prstGeom>
          <a:solidFill>
            <a:srgbClr val="3B2814"/>
          </a:solidFill>
          <a:ln w="6350">
            <a:solidFill>
              <a:srgbClr val="6B5230"/>
            </a:solidFill>
            <a:prstDash val="solid"/>
          </a:ln>
        </p:spPr>
      </p:sp>
      <p:sp>
        <p:nvSpPr>
          <p:cNvPr id="13" name="Text 9"/>
          <p:cNvSpPr/>
          <p:nvPr/>
        </p:nvSpPr>
        <p:spPr>
          <a:xfrm>
            <a:off x="5383768" y="3248025"/>
            <a:ext cx="148534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9B877"/>
                </a:solidFill>
                <a:latin typeface="Arial" pitchFamily="34" charset="0"/>
                <a:ea typeface="Arial" pitchFamily="34" charset="-122"/>
                <a:cs typeface="Arial" pitchFamily="34" charset="-120"/>
              </a:rPr>
              <a:t>Risk engine</a:t>
            </a:r>
            <a:endParaRPr lang="en-US" sz="1700" dirty="0"/>
          </a:p>
        </p:txBody>
      </p:sp>
      <p:sp>
        <p:nvSpPr>
          <p:cNvPr id="14" name="Text 10"/>
          <p:cNvSpPr/>
          <p:nvPr/>
        </p:nvSpPr>
        <p:spPr>
          <a:xfrm>
            <a:off x="5383768" y="3583307"/>
            <a:ext cx="148534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DCC4"/>
                </a:solidFill>
                <a:latin typeface="Arial" pitchFamily="34" charset="0"/>
                <a:ea typeface="Arial" pitchFamily="34" charset="-122"/>
                <a:cs typeface="Arial" pitchFamily="34" charset="-120"/>
              </a:rPr>
              <a:t>AI + CIBIL + balance</a:t>
            </a:r>
            <a:endParaRPr lang="en-US" sz="1300" dirty="0"/>
          </a:p>
        </p:txBody>
      </p:sp>
      <p:pic>
        <p:nvPicPr>
          <p:cNvPr id="15" name="Image 2" descr="arrow-right">    </p:cNvPr>
          <p:cNvPicPr>
            <a:picLocks noChangeAspect="1"/>
          </p:cNvPicPr>
          <p:nvPr/>
        </p:nvPicPr>
        <p:blipFill>
          <a:blip r:embed="rId3"/>
          <a:srcRect l="0" r="0" t="0" b="0"/>
          <a:stretch/>
        </p:blipFill>
        <p:spPr>
          <a:xfrm>
            <a:off x="7064693" y="3524250"/>
            <a:ext cx="279400" cy="228600"/>
          </a:xfrm>
          <a:prstGeom prst="rect">
            <a:avLst/>
          </a:prstGeom>
        </p:spPr>
      </p:pic>
      <p:sp>
        <p:nvSpPr>
          <p:cNvPr id="16" name="Shape 11"/>
          <p:cNvSpPr/>
          <p:nvPr/>
        </p:nvSpPr>
        <p:spPr>
          <a:xfrm>
            <a:off x="7436168" y="3154363"/>
            <a:ext cx="1743234" cy="968375"/>
          </a:xfrm>
          <a:prstGeom prst="roundRect">
            <a:avLst>
              <a:gd name="adj" fmla="val 11475"/>
            </a:avLst>
          </a:prstGeom>
          <a:solidFill>
            <a:srgbClr val="3B2814"/>
          </a:solidFill>
          <a:ln w="6350">
            <a:solidFill>
              <a:srgbClr val="6B5230"/>
            </a:solidFill>
            <a:prstDash val="solid"/>
          </a:ln>
        </p:spPr>
      </p:sp>
      <p:sp>
        <p:nvSpPr>
          <p:cNvPr id="17" name="Text 12"/>
          <p:cNvSpPr/>
          <p:nvPr/>
        </p:nvSpPr>
        <p:spPr>
          <a:xfrm>
            <a:off x="7590472" y="3359469"/>
            <a:ext cx="14854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9B877"/>
                </a:solidFill>
                <a:latin typeface="Arial" pitchFamily="34" charset="0"/>
                <a:ea typeface="Arial" pitchFamily="34" charset="-122"/>
                <a:cs typeface="Arial" pitchFamily="34" charset="-120"/>
              </a:rPr>
              <a:t>Officer portal</a:t>
            </a:r>
            <a:endParaRPr lang="en-US" sz="1700" dirty="0"/>
          </a:p>
        </p:txBody>
      </p:sp>
      <p:sp>
        <p:nvSpPr>
          <p:cNvPr id="18" name="Text 13"/>
          <p:cNvSpPr/>
          <p:nvPr/>
        </p:nvSpPr>
        <p:spPr>
          <a:xfrm>
            <a:off x="7590472" y="3694748"/>
            <a:ext cx="148542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DCC4"/>
                </a:solidFill>
                <a:latin typeface="Arial" pitchFamily="34" charset="0"/>
                <a:ea typeface="Arial" pitchFamily="34" charset="-122"/>
                <a:cs typeface="Arial" pitchFamily="34" charset="-120"/>
              </a:rPr>
              <a:t>Flask web app</a:t>
            </a:r>
            <a:endParaRPr lang="en-US" sz="1300" dirty="0"/>
          </a:p>
        </p:txBody>
      </p:sp>
      <p:pic>
        <p:nvPicPr>
          <p:cNvPr id="19" name="Image 3" descr="arrow-right">    </p:cNvPr>
          <p:cNvPicPr>
            <a:picLocks noChangeAspect="1"/>
          </p:cNvPicPr>
          <p:nvPr/>
        </p:nvPicPr>
        <p:blipFill>
          <a:blip r:embed="rId4"/>
          <a:srcRect l="0" r="0" t="0" b="0"/>
          <a:stretch/>
        </p:blipFill>
        <p:spPr>
          <a:xfrm>
            <a:off x="9271477" y="3524250"/>
            <a:ext cx="279400" cy="228600"/>
          </a:xfrm>
          <a:prstGeom prst="rect">
            <a:avLst/>
          </a:prstGeom>
        </p:spPr>
      </p:pic>
      <p:sp>
        <p:nvSpPr>
          <p:cNvPr id="20" name="Shape 14"/>
          <p:cNvSpPr/>
          <p:nvPr/>
        </p:nvSpPr>
        <p:spPr>
          <a:xfrm>
            <a:off x="9639777" y="3044825"/>
            <a:ext cx="1739424" cy="1187450"/>
          </a:xfrm>
          <a:prstGeom prst="roundRect">
            <a:avLst>
              <a:gd name="adj" fmla="val 9626"/>
            </a:avLst>
          </a:prstGeom>
          <a:solidFill>
            <a:srgbClr val="B08D57"/>
          </a:solidFill>
          <a:ln/>
        </p:spPr>
      </p:sp>
      <p:sp>
        <p:nvSpPr>
          <p:cNvPr id="21" name="Text 15"/>
          <p:cNvSpPr/>
          <p:nvPr/>
        </p:nvSpPr>
        <p:spPr>
          <a:xfrm>
            <a:off x="9792177" y="3248025"/>
            <a:ext cx="14854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A1C0E"/>
                </a:solidFill>
                <a:latin typeface="Arial" pitchFamily="34" charset="0"/>
                <a:ea typeface="Arial" pitchFamily="34" charset="-122"/>
                <a:cs typeface="Arial" pitchFamily="34" charset="-120"/>
              </a:rPr>
              <a:t>Blockchain</a:t>
            </a:r>
            <a:endParaRPr lang="en-US" sz="1700" dirty="0"/>
          </a:p>
        </p:txBody>
      </p:sp>
      <p:sp>
        <p:nvSpPr>
          <p:cNvPr id="22" name="Text 16"/>
          <p:cNvSpPr/>
          <p:nvPr/>
        </p:nvSpPr>
        <p:spPr>
          <a:xfrm>
            <a:off x="9792177" y="3583307"/>
            <a:ext cx="1485424"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C0E"/>
                </a:solidFill>
                <a:latin typeface="Arial" pitchFamily="34" charset="0"/>
                <a:ea typeface="Arial" pitchFamily="34" charset="-122"/>
                <a:cs typeface="Arial" pitchFamily="34" charset="-120"/>
              </a:rPr>
              <a:t>Ledger on Polygon Amoy</a:t>
            </a:r>
            <a:endParaRPr lang="en-US" sz="1300" dirty="0"/>
          </a:p>
        </p:txBody>
      </p:sp>
      <p:sp>
        <p:nvSpPr>
          <p:cNvPr id="23" name="Text 17"/>
          <p:cNvSpPr/>
          <p:nvPr/>
        </p:nvSpPr>
        <p:spPr>
          <a:xfrm>
            <a:off x="812800" y="5575300"/>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DCC4"/>
                </a:solidFill>
                <a:latin typeface="Arial" pitchFamily="34" charset="0"/>
                <a:ea typeface="Arial" pitchFamily="34" charset="-122"/>
                <a:cs typeface="Arial" pitchFamily="34" charset="-120"/>
              </a:rPr>
              <a:t>Raw ride data stays off-chain. Only a fingerprint of it, with the decision, is written to the blockchain.</a:t>
            </a:r>
            <a:endParaRPr lang="en-US" sz="1500" dirty="0"/>
          </a:p>
        </p:txBody>
      </p:sp>
      <p:sp>
        <p:nvSpPr>
          <p:cNvPr id="24" name="Text 1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BLOCKCHAIN LAYER</a:t>
            </a:r>
            <a:endParaRPr lang="en-US" sz="1300" dirty="0"/>
          </a:p>
        </p:txBody>
      </p:sp>
      <p:sp>
        <p:nvSpPr>
          <p:cNvPr id="3" name="Text 1"/>
          <p:cNvSpPr/>
          <p:nvPr>
            <p:ph type="title"/>
          </p:nvPr>
        </p:nvSpPr>
        <p:spPr>
          <a:xfrm>
            <a:off x="812800" y="1170939"/>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Decisions nobody can quietly change</a:t>
            </a:r>
            <a:endParaRPr lang="en-US" sz="3800" dirty="0"/>
          </a:p>
        </p:txBody>
      </p:sp>
      <p:sp>
        <p:nvSpPr>
          <p:cNvPr id="4" name="Shape 2"/>
          <p:cNvSpPr/>
          <p:nvPr/>
        </p:nvSpPr>
        <p:spPr>
          <a:xfrm>
            <a:off x="815975" y="2359025"/>
            <a:ext cx="3380264" cy="1972310"/>
          </a:xfrm>
          <a:prstGeom prst="roundRect">
            <a:avLst>
              <a:gd name="adj" fmla="val 6278"/>
            </a:avLst>
          </a:prstGeom>
          <a:solidFill>
            <a:srgbClr val="FFFBF0"/>
          </a:solidFill>
          <a:ln w="6350">
            <a:solidFill>
              <a:srgbClr val="D9C9A3"/>
            </a:solidFill>
            <a:prstDash val="solid"/>
          </a:ln>
        </p:spPr>
      </p:sp>
      <p:sp>
        <p:nvSpPr>
          <p:cNvPr id="5" name="Text 3"/>
          <p:cNvSpPr/>
          <p:nvPr/>
        </p:nvSpPr>
        <p:spPr>
          <a:xfrm>
            <a:off x="1071880" y="2614932"/>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A5C22"/>
                </a:solidFill>
                <a:latin typeface="Arial" pitchFamily="34" charset="0"/>
                <a:ea typeface="Arial" pitchFamily="34" charset="-122"/>
                <a:cs typeface="Arial" pitchFamily="34" charset="-120"/>
              </a:rPr>
              <a:t>Hash chain</a:t>
            </a:r>
            <a:endParaRPr lang="en-US" sz="2000" dirty="0"/>
          </a:p>
        </p:txBody>
      </p:sp>
      <p:sp>
        <p:nvSpPr>
          <p:cNvPr id="6" name="Text 4"/>
          <p:cNvSpPr/>
          <p:nvPr/>
        </p:nvSpPr>
        <p:spPr>
          <a:xfrm>
            <a:off x="1071880" y="3008632"/>
            <a:ext cx="295450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Each block stores the SHA-256 hash of the one before it. Change one record and every later link breaks.</a:t>
            </a:r>
            <a:endParaRPr lang="en-US" sz="1500" dirty="0"/>
          </a:p>
        </p:txBody>
      </p:sp>
      <p:sp>
        <p:nvSpPr>
          <p:cNvPr id="7" name="Shape 5"/>
          <p:cNvSpPr/>
          <p:nvPr/>
        </p:nvSpPr>
        <p:spPr>
          <a:xfrm>
            <a:off x="4405789" y="2359025"/>
            <a:ext cx="3380343" cy="1972310"/>
          </a:xfrm>
          <a:prstGeom prst="roundRect">
            <a:avLst>
              <a:gd name="adj" fmla="val 6278"/>
            </a:avLst>
          </a:prstGeom>
          <a:solidFill>
            <a:srgbClr val="FFFBF0"/>
          </a:solidFill>
          <a:ln w="6350">
            <a:solidFill>
              <a:srgbClr val="D9C9A3"/>
            </a:solidFill>
            <a:prstDash val="solid"/>
          </a:ln>
        </p:spPr>
      </p:sp>
      <p:sp>
        <p:nvSpPr>
          <p:cNvPr id="8" name="Text 6"/>
          <p:cNvSpPr/>
          <p:nvPr/>
        </p:nvSpPr>
        <p:spPr>
          <a:xfrm>
            <a:off x="4661694" y="261493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A5C22"/>
                </a:solidFill>
                <a:latin typeface="Arial" pitchFamily="34" charset="0"/>
                <a:ea typeface="Arial" pitchFamily="34" charset="-122"/>
                <a:cs typeface="Arial" pitchFamily="34" charset="-120"/>
              </a:rPr>
              <a:t>Merkle root</a:t>
            </a:r>
            <a:endParaRPr lang="en-US" sz="2000" dirty="0"/>
          </a:p>
        </p:txBody>
      </p:sp>
      <p:sp>
        <p:nvSpPr>
          <p:cNvPr id="9" name="Text 7"/>
          <p:cNvSpPr/>
          <p:nvPr/>
        </p:nvSpPr>
        <p:spPr>
          <a:xfrm>
            <a:off x="4661694" y="3008632"/>
            <a:ext cx="295458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One root hash proves a whole dataset is untouched. Only the root goes on-chain, never the raw data.</a:t>
            </a:r>
            <a:endParaRPr lang="en-US" sz="1500" dirty="0"/>
          </a:p>
        </p:txBody>
      </p:sp>
      <p:sp>
        <p:nvSpPr>
          <p:cNvPr id="10" name="Shape 8"/>
          <p:cNvSpPr/>
          <p:nvPr/>
        </p:nvSpPr>
        <p:spPr>
          <a:xfrm>
            <a:off x="7995682" y="2359025"/>
            <a:ext cx="3380343" cy="1972310"/>
          </a:xfrm>
          <a:prstGeom prst="roundRect">
            <a:avLst>
              <a:gd name="adj" fmla="val 6278"/>
            </a:avLst>
          </a:prstGeom>
          <a:solidFill>
            <a:srgbClr val="FFFBF0"/>
          </a:solidFill>
          <a:ln w="6350">
            <a:solidFill>
              <a:srgbClr val="D9C9A3"/>
            </a:solidFill>
            <a:prstDash val="solid"/>
          </a:ln>
        </p:spPr>
      </p:sp>
      <p:sp>
        <p:nvSpPr>
          <p:cNvPr id="11" name="Text 9"/>
          <p:cNvSpPr/>
          <p:nvPr/>
        </p:nvSpPr>
        <p:spPr>
          <a:xfrm>
            <a:off x="8251587" y="261493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7A5C22"/>
                </a:solidFill>
                <a:latin typeface="Arial" pitchFamily="34" charset="0"/>
                <a:ea typeface="Arial" pitchFamily="34" charset="-122"/>
                <a:cs typeface="Arial" pitchFamily="34" charset="-120"/>
              </a:rPr>
              <a:t>Signed records</a:t>
            </a:r>
            <a:endParaRPr lang="en-US" sz="2000" dirty="0"/>
          </a:p>
        </p:txBody>
      </p:sp>
      <p:sp>
        <p:nvSpPr>
          <p:cNvPr id="12" name="Text 10"/>
          <p:cNvSpPr/>
          <p:nvPr/>
        </p:nvSpPr>
        <p:spPr>
          <a:xfrm>
            <a:off x="8251587" y="3008632"/>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Every record carries an oracle signature, and only the oracle wallet may write to the contract.</a:t>
            </a:r>
            <a:endParaRPr lang="en-US" sz="1500" dirty="0"/>
          </a:p>
        </p:txBody>
      </p:sp>
      <p:sp>
        <p:nvSpPr>
          <p:cNvPr id="13" name="Text 11"/>
          <p:cNvSpPr/>
          <p:nvPr/>
        </p:nvSpPr>
        <p:spPr>
          <a:xfrm>
            <a:off x="812800" y="4988561"/>
            <a:ext cx="10566400" cy="853440"/>
          </a:xfrm>
          <a:prstGeom prst="roundRect">
            <a:avLst>
              <a:gd name="adj" fmla="val 5952"/>
            </a:avLst>
          </a:prstGeom>
          <a:solidFill>
            <a:srgbClr val="EFE4C8"/>
          </a:solidFill>
          <a:ln/>
        </p:spPr>
        <p:txBody>
          <a:bodyPr wrap="square" lIns="239121" tIns="137521" rIns="0" bIns="112121" rtlCol="0" anchor="t">
            <a:normAutofit/>
          </a:bodyPr>
          <a:lstStyle/>
          <a:p>
            <a:pPr algn="l" indent="0" marL="0">
              <a:lnSpc>
                <a:spcPts val="2160"/>
              </a:lnSpc>
              <a:buNone/>
            </a:pPr>
            <a:r>
              <a:rPr lang="en-US" sz="1600" b="1" dirty="0">
                <a:solidFill>
                  <a:srgbClr val="2A1C0E"/>
                </a:solidFill>
                <a:latin typeface="Arial" pitchFamily="34" charset="0"/>
                <a:ea typeface="Arial" pitchFamily="34" charset="-122"/>
                <a:cs typeface="Arial" pitchFamily="34" charset="-120"/>
              </a:rPr>
              <a:t>Tamper test: we altered one value in a past record, and the chain check flagged it as invalid straight away.</a:t>
            </a:r>
            <a:endParaRPr lang="en-US" sz="1600" dirty="0"/>
          </a:p>
        </p:txBody>
      </p:sp>
      <p:sp>
        <p:nvSpPr>
          <p:cNvPr id="14" name="Shape 12"/>
          <p:cNvSpPr/>
          <p:nvPr/>
        </p:nvSpPr>
        <p:spPr>
          <a:xfrm>
            <a:off x="812800" y="4988561"/>
            <a:ext cx="10566400" cy="853440"/>
          </a:xfrm>
          <a:custGeom>
            <a:avLst/>
            <a:gdLst/>
            <a:ahLst/>
            <a:cxnLst/>
            <a:rect l="l" t="t" r="r" b="b"/>
            <a:pathLst>
              <a:path w="10566400" h="853440">
                <a:moveTo>
                  <a:pt x="50800" y="853440"/>
                </a:moveTo>
                <a:lnTo>
                  <a:pt x="50800" y="853440"/>
                </a:lnTo>
                <a:arcTo hR="50800" wR="50800" stAng="5400000" swAng="5400000"/>
                <a:lnTo>
                  <a:pt x="0" y="50800"/>
                </a:lnTo>
                <a:arcTo hR="50800" wR="50800" stAng="10800000" swAng="5400000"/>
                <a:lnTo>
                  <a:pt x="50800" y="0"/>
                </a:lnTo>
                <a:lnTo>
                  <a:pt x="50800" y="853440"/>
                </a:lnTo>
                <a:close/>
              </a:path>
            </a:pathLst>
          </a:custGeom>
          <a:solidFill>
            <a:srgbClr val="B08D57"/>
          </a:solidFill>
          <a:ln/>
        </p:spPr>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THE WORKING PORTAL</a:t>
            </a:r>
            <a:endParaRPr lang="en-US" sz="1300" dirty="0"/>
          </a:p>
        </p:txBody>
      </p:sp>
      <p:sp>
        <p:nvSpPr>
          <p:cNvPr id="3" name="Text 1"/>
          <p:cNvSpPr/>
          <p:nvPr>
            <p:ph type="title"/>
          </p:nvPr>
        </p:nvSpPr>
        <p:spPr>
          <a:xfrm>
            <a:off x="812800" y="1170939"/>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What the bank officer sees</a:t>
            </a:r>
            <a:endParaRPr lang="en-US" sz="3800" dirty="0"/>
          </a:p>
        </p:txBody>
      </p:sp>
      <p:pic>
        <p:nvPicPr>
          <p:cNvPr id="4" name="Image 0" descr="Employee dashboard listing four loan requests with Risk Meter, CIBIL and status">    </p:cNvPr>
          <p:cNvPicPr>
            <a:picLocks noChangeAspect="1"/>
          </p:cNvPicPr>
          <p:nvPr/>
        </p:nvPicPr>
        <p:blipFill>
          <a:blip r:embed="rId1"/>
          <a:srcRect l="0" r="0" t="229" b="229"/>
          <a:stretch/>
        </p:blipFill>
        <p:spPr>
          <a:xfrm>
            <a:off x="825500" y="1917700"/>
            <a:ext cx="3327400" cy="2070100"/>
          </a:xfrm>
          <a:prstGeom prst="roundRect">
            <a:avLst>
              <a:gd name="adj" fmla="val 3067"/>
            </a:avLst>
          </a:prstGeom>
        </p:spPr>
      </p:pic>
      <p:sp>
        <p:nvSpPr>
          <p:cNvPr id="5" name="Shape 2"/>
          <p:cNvSpPr/>
          <p:nvPr/>
        </p:nvSpPr>
        <p:spPr>
          <a:xfrm>
            <a:off x="819150" y="1911350"/>
            <a:ext cx="3340100" cy="2082800"/>
          </a:xfrm>
          <a:prstGeom prst="roundRect">
            <a:avLst>
              <a:gd name="adj" fmla="val 3354"/>
            </a:avLst>
          </a:prstGeom>
          <a:noFill/>
          <a:ln w="12700">
            <a:solidFill>
              <a:srgbClr val="B08D57"/>
            </a:solidFill>
            <a:prstDash val="solid"/>
          </a:ln>
        </p:spPr>
      </p:sp>
      <p:sp>
        <p:nvSpPr>
          <p:cNvPr id="6" name="Text 3"/>
          <p:cNvSpPr/>
          <p:nvPr/>
        </p:nvSpPr>
        <p:spPr>
          <a:xfrm>
            <a:off x="812800" y="4089400"/>
            <a:ext cx="3505708"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A1C0E"/>
                </a:solidFill>
                <a:latin typeface="Arial" pitchFamily="34" charset="0"/>
                <a:ea typeface="Arial" pitchFamily="34" charset="-122"/>
                <a:cs typeface="Arial" pitchFamily="34" charset="-120"/>
              </a:rPr>
              <a:t>Dashboard of loan requests</a:t>
            </a:r>
            <a:endParaRPr lang="en-US" sz="1300" dirty="0"/>
          </a:p>
        </p:txBody>
      </p:sp>
      <p:pic>
        <p:nvPicPr>
          <p:cNvPr id="7" name="Image 1" descr="Applicant detail page with the Risk Meter gauge and seven work-history sub-scores">    </p:cNvPr>
          <p:cNvPicPr>
            <a:picLocks noChangeAspect="1"/>
          </p:cNvPicPr>
          <p:nvPr/>
        </p:nvPicPr>
        <p:blipFill>
          <a:blip r:embed="rId2"/>
          <a:srcRect l="0" r="0" t="229" b="229"/>
          <a:stretch/>
        </p:blipFill>
        <p:spPr>
          <a:xfrm>
            <a:off x="4406900" y="1917700"/>
            <a:ext cx="3327400" cy="2070100"/>
          </a:xfrm>
          <a:prstGeom prst="roundRect">
            <a:avLst>
              <a:gd name="adj" fmla="val 3067"/>
            </a:avLst>
          </a:prstGeom>
        </p:spPr>
      </p:pic>
      <p:sp>
        <p:nvSpPr>
          <p:cNvPr id="8" name="Shape 4"/>
          <p:cNvSpPr/>
          <p:nvPr/>
        </p:nvSpPr>
        <p:spPr>
          <a:xfrm>
            <a:off x="4400550" y="1911350"/>
            <a:ext cx="3340100" cy="2082800"/>
          </a:xfrm>
          <a:prstGeom prst="roundRect">
            <a:avLst>
              <a:gd name="adj" fmla="val 3354"/>
            </a:avLst>
          </a:prstGeom>
          <a:noFill/>
          <a:ln w="12700">
            <a:solidFill>
              <a:srgbClr val="B08D57"/>
            </a:solidFill>
            <a:prstDash val="solid"/>
          </a:ln>
        </p:spPr>
      </p:sp>
      <p:sp>
        <p:nvSpPr>
          <p:cNvPr id="9" name="Text 5"/>
          <p:cNvSpPr/>
          <p:nvPr/>
        </p:nvSpPr>
        <p:spPr>
          <a:xfrm>
            <a:off x="4394200" y="4089400"/>
            <a:ext cx="3505708"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A1C0E"/>
                </a:solidFill>
                <a:latin typeface="Arial" pitchFamily="34" charset="0"/>
                <a:ea typeface="Arial" pitchFamily="34" charset="-122"/>
                <a:cs typeface="Arial" pitchFamily="34" charset="-120"/>
              </a:rPr>
              <a:t>Risk Meter and seven sub-scores</a:t>
            </a:r>
            <a:endParaRPr lang="en-US" sz="1300" dirty="0"/>
          </a:p>
        </p:txBody>
      </p:sp>
      <p:pic>
        <p:nvPicPr>
          <p:cNvPr id="10" name="Image 2" descr="Blockchain ledger page showing hash-linked blocks and a passing integrity check">    </p:cNvPr>
          <p:cNvPicPr>
            <a:picLocks noChangeAspect="1"/>
          </p:cNvPicPr>
          <p:nvPr/>
        </p:nvPicPr>
        <p:blipFill>
          <a:blip r:embed="rId3"/>
          <a:srcRect l="0" r="0" t="229" b="229"/>
          <a:stretch/>
        </p:blipFill>
        <p:spPr>
          <a:xfrm>
            <a:off x="7988300" y="1917700"/>
            <a:ext cx="3327400" cy="2070100"/>
          </a:xfrm>
          <a:prstGeom prst="roundRect">
            <a:avLst>
              <a:gd name="adj" fmla="val 3067"/>
            </a:avLst>
          </a:prstGeom>
        </p:spPr>
      </p:pic>
      <p:sp>
        <p:nvSpPr>
          <p:cNvPr id="11" name="Shape 6"/>
          <p:cNvSpPr/>
          <p:nvPr/>
        </p:nvSpPr>
        <p:spPr>
          <a:xfrm>
            <a:off x="7981950" y="1911350"/>
            <a:ext cx="3340100" cy="2082800"/>
          </a:xfrm>
          <a:prstGeom prst="roundRect">
            <a:avLst>
              <a:gd name="adj" fmla="val 3354"/>
            </a:avLst>
          </a:prstGeom>
          <a:noFill/>
          <a:ln w="12700">
            <a:solidFill>
              <a:srgbClr val="B08D57"/>
            </a:solidFill>
            <a:prstDash val="solid"/>
          </a:ln>
        </p:spPr>
      </p:sp>
      <p:sp>
        <p:nvSpPr>
          <p:cNvPr id="12" name="Text 7"/>
          <p:cNvSpPr/>
          <p:nvPr/>
        </p:nvSpPr>
        <p:spPr>
          <a:xfrm>
            <a:off x="7975600" y="4089400"/>
            <a:ext cx="3505708"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A1C0E"/>
                </a:solidFill>
                <a:latin typeface="Arial" pitchFamily="34" charset="0"/>
                <a:ea typeface="Arial" pitchFamily="34" charset="-122"/>
                <a:cs typeface="Arial" pitchFamily="34" charset="-120"/>
              </a:rPr>
              <a:t>Hash-linked ledger with integrity check</a:t>
            </a:r>
            <a:endParaRPr lang="en-US" sz="1300" dirty="0"/>
          </a:p>
        </p:txBody>
      </p:sp>
      <p:sp>
        <p:nvSpPr>
          <p:cNvPr id="13" name="Text 8"/>
          <p:cNvSpPr/>
          <p:nvPr/>
        </p:nvSpPr>
        <p:spPr>
          <a:xfrm>
            <a:off x="812800" y="4507229"/>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The officer reviews an applicant, then forwards the request to the Bank Manager or declines it. Each decision is written to the ledger.</a:t>
            </a:r>
            <a:endParaRPr lang="en-US" sz="1500" dirty="0"/>
          </a:p>
        </p:txBody>
      </p:sp>
      <p:sp>
        <p:nvSpPr>
          <p:cNvPr id="14"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RESULTS</a:t>
            </a:r>
            <a:endParaRPr lang="en-US" sz="1300" dirty="0"/>
          </a:p>
        </p:txBody>
      </p:sp>
      <p:sp>
        <p:nvSpPr>
          <p:cNvPr id="3" name="Text 1"/>
          <p:cNvSpPr/>
          <p:nvPr>
            <p:ph type="title"/>
          </p:nvPr>
        </p:nvSpPr>
        <p:spPr>
          <a:xfrm>
            <a:off x="812800" y="1170942"/>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The scores separate reliable from risky</a:t>
            </a:r>
            <a:endParaRPr lang="en-US" sz="3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0560"/>
          <a:ext cx="10556240" cy="2184400"/>
        </p:xfrm>
        <a:graphic>
          <a:graphicData uri="http://schemas.openxmlformats.org/drawingml/2006/table">
            <a:tbl>
              <a:tblPr/>
              <a:tblGrid>
                <a:gridCol w="3377997"/>
                <a:gridCol w="1477874"/>
                <a:gridCol w="1477874"/>
                <a:gridCol w="1900123"/>
                <a:gridCol w="2322373"/>
              </a:tblGrid>
              <a:tr h="436880">
                <a:tc>
                  <a:txBody>
                    <a:bodyPr/>
                    <a:lstStyle/>
                    <a:p>
                      <a:pPr indent="0" marL="0">
                        <a:lnSpc>
                          <a:spcPts val="2240"/>
                        </a:lnSpc>
                        <a:buNone/>
                      </a:pPr>
                      <a:r>
                        <a:rPr lang="en-US" sz="1600" b="1" dirty="0">
                          <a:solidFill>
                            <a:srgbClr val="F6F0E2"/>
                          </a:solidFill>
                          <a:latin typeface="Arial" pitchFamily="34" charset="0"/>
                          <a:ea typeface="Arial" pitchFamily="34" charset="-122"/>
                          <a:cs typeface="Arial" pitchFamily="34" charset="-120"/>
                        </a:rPr>
                        <a:t>Applicant</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c>
                  <a:txBody>
                    <a:bodyPr/>
                    <a:lstStyle/>
                    <a:p>
                      <a:pPr algn="r" indent="0" marL="0">
                        <a:lnSpc>
                          <a:spcPts val="2240"/>
                        </a:lnSpc>
                        <a:buNone/>
                      </a:pPr>
                      <a:r>
                        <a:rPr lang="en-US" sz="1600" b="1" dirty="0">
                          <a:solidFill>
                            <a:srgbClr val="F6F0E2"/>
                          </a:solidFill>
                          <a:latin typeface="Arial" pitchFamily="34" charset="0"/>
                          <a:ea typeface="Arial" pitchFamily="34" charset="-122"/>
                          <a:cs typeface="Arial" pitchFamily="34" charset="-120"/>
                        </a:rPr>
                        <a:t>AI score</a:t>
                      </a:r>
                      <a:endParaRPr lang="en-US" sz="1600" dirty="0">
                        <a:latin typeface="Arial" charset="0"/>
                        <a:ea typeface="Arial" charset="0"/>
                        <a:cs typeface="Arial" charset="0"/>
                      </a:endParaRPr>
                    </a:p>
                  </a:txBody>
                  <a:tcPr marL="71120" marR="71120" marT="71120" marB="71120" anchor="t">
                    <a:lnL w="12700" cap="flat" cmpd="sng" algn="ctr">
                      <a:solidFill>
                        <a:srgbClr val="251A0F"/>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c>
                  <a:txBody>
                    <a:bodyPr/>
                    <a:lstStyle/>
                    <a:p>
                      <a:pPr algn="r" indent="0" marL="0">
                        <a:lnSpc>
                          <a:spcPts val="2240"/>
                        </a:lnSpc>
                        <a:buNone/>
                      </a:pPr>
                      <a:r>
                        <a:rPr lang="en-US" sz="1600" b="1" dirty="0">
                          <a:solidFill>
                            <a:srgbClr val="F6F0E2"/>
                          </a:solidFill>
                          <a:latin typeface="Arial" pitchFamily="34" charset="0"/>
                          <a:ea typeface="Arial" pitchFamily="34" charset="-122"/>
                          <a:cs typeface="Arial" pitchFamily="34" charset="-120"/>
                        </a:rPr>
                        <a:t>CIBIL</a:t>
                      </a:r>
                      <a:endParaRPr lang="en-US" sz="1600" dirty="0">
                        <a:latin typeface="Arial" charset="0"/>
                        <a:ea typeface="Arial" charset="0"/>
                        <a:cs typeface="Arial" charset="0"/>
                      </a:endParaRPr>
                    </a:p>
                  </a:txBody>
                  <a:tcPr marL="71120" marR="71120" marT="71120" marB="71120" anchor="t">
                    <a:lnL w="12700" cap="flat" cmpd="sng" algn="ctr">
                      <a:solidFill>
                        <a:srgbClr val="251A0F"/>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c>
                  <a:txBody>
                    <a:bodyPr/>
                    <a:lstStyle/>
                    <a:p>
                      <a:pPr algn="r" indent="0" marL="0">
                        <a:lnSpc>
                          <a:spcPts val="2240"/>
                        </a:lnSpc>
                        <a:buNone/>
                      </a:pPr>
                      <a:r>
                        <a:rPr lang="en-US" sz="1600" b="1" dirty="0">
                          <a:solidFill>
                            <a:srgbClr val="F6F0E2"/>
                          </a:solidFill>
                          <a:latin typeface="Arial" pitchFamily="34" charset="0"/>
                          <a:ea typeface="Arial" pitchFamily="34" charset="-122"/>
                          <a:cs typeface="Arial" pitchFamily="34" charset="-120"/>
                        </a:rPr>
                        <a:t>Risk Meter</a:t>
                      </a:r>
                      <a:endParaRPr lang="en-US" sz="1600" dirty="0">
                        <a:latin typeface="Arial" charset="0"/>
                        <a:ea typeface="Arial" charset="0"/>
                        <a:cs typeface="Arial" charset="0"/>
                      </a:endParaRPr>
                    </a:p>
                  </a:txBody>
                  <a:tcPr marL="71120" marR="71120" marT="71120" marB="71120" anchor="t">
                    <a:lnL w="12700" cap="flat" cmpd="sng" algn="ctr">
                      <a:solidFill>
                        <a:srgbClr val="251A0F"/>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c>
                  <a:txBody>
                    <a:bodyPr/>
                    <a:lstStyle/>
                    <a:p>
                      <a:pPr indent="0" marL="0">
                        <a:lnSpc>
                          <a:spcPts val="2240"/>
                        </a:lnSpc>
                        <a:buNone/>
                      </a:pPr>
                      <a:r>
                        <a:rPr lang="en-US" sz="1600" b="1" dirty="0">
                          <a:solidFill>
                            <a:srgbClr val="F6F0E2"/>
                          </a:solidFill>
                          <a:latin typeface="Arial" pitchFamily="34" charset="0"/>
                          <a:ea typeface="Arial" pitchFamily="34" charset="-122"/>
                          <a:cs typeface="Arial" pitchFamily="34" charset="-120"/>
                        </a:rPr>
                        <a:t>Band</a:t>
                      </a:r>
                      <a:endParaRPr lang="en-US" sz="1600" dirty="0">
                        <a:latin typeface="Arial" charset="0"/>
                        <a:ea typeface="Arial" charset="0"/>
                        <a:cs typeface="Arial" charset="0"/>
                      </a:endParaRPr>
                    </a:p>
                  </a:txBody>
                  <a:tcPr marL="71120" marR="71120" marT="71120" marB="71120" anchor="t">
                    <a:lnL w="12700" cap="flat" cmpd="sng" algn="ctr">
                      <a:solidFill>
                        <a:srgbClr val="251A0F"/>
                      </a:solidFill>
                      <a:prstDash val="solid"/>
                      <a:round/>
                      <a:headEnd type="none" w="med" len="med"/>
                      <a:tailEnd type="none" w="med" len="med"/>
                    </a:lnL>
                    <a:lnR w="12700" cap="flat" cmpd="sng" algn="ctr">
                      <a:solidFill>
                        <a:srgbClr val="251A0F"/>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251A0F"/>
                      </a:solidFill>
                      <a:prstDash val="solid"/>
                      <a:round/>
                      <a:headEnd type="none" w="med" len="med"/>
                      <a:tailEnd type="none" w="med" len="med"/>
                    </a:lnB>
                    <a:solidFill>
                      <a:srgbClr val="2A1C0E"/>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Arun Kumar Selvam</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93.85</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700</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84.1</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Low Risk</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251A0F"/>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Priya Dharshini R</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84.14</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620</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74.8</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Moderate Risk</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Mohammed Irfan S</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68.74</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598</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64.8</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Moderate Risk</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C4C0B4"/>
                      </a:solidFill>
                      <a:prstDash val="solid"/>
                      <a:round/>
                      <a:headEnd type="none" w="med" len="med"/>
                      <a:tailEnd type="none" w="med" len="med"/>
                    </a:lnR>
                    <a:lnT w="12700" cap="flat" cmpd="sng" algn="ctr">
                      <a:solidFill>
                        <a:srgbClr val="BFB6A0"/>
                      </a:solidFill>
                      <a:prstDash val="solid"/>
                      <a:round/>
                      <a:headEnd type="none" w="med" len="med"/>
                      <a:tailEnd type="none" w="med" len="med"/>
                    </a:lnT>
                    <a:lnB w="12700" cap="flat" cmpd="sng" algn="ctr">
                      <a:solidFill>
                        <a:srgbClr val="C4C0B4"/>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Karthik Raja V</a:t>
                      </a:r>
                      <a:endParaRPr lang="en-US" sz="1600" dirty="0">
                        <a:latin typeface="Arial" charset="0"/>
                        <a:ea typeface="Arial" charset="0"/>
                        <a:cs typeface="Arial" charset="0"/>
                      </a:endParaRPr>
                    </a:p>
                  </a:txBody>
                  <a:tcPr marL="71120" marR="71120" marT="71120" marB="71120" anchor="t">
                    <a:lnL w="12700" cap="flat" cmpd="sng" algn="ctr">
                      <a:solidFill>
                        <a:srgbClr val="C4C0B4"/>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47.40</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470</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algn="r" indent="0" marL="0">
                        <a:lnSpc>
                          <a:spcPts val="2240"/>
                        </a:lnSpc>
                        <a:buNone/>
                      </a:pPr>
                      <a:r>
                        <a:rPr lang="en-US" sz="1600" dirty="0">
                          <a:solidFill>
                            <a:srgbClr val="2A1C0E"/>
                          </a:solidFill>
                          <a:latin typeface="Arial" pitchFamily="34" charset="0"/>
                          <a:ea typeface="Arial" pitchFamily="34" charset="-122"/>
                          <a:cs typeface="Arial" pitchFamily="34" charset="-120"/>
                        </a:rPr>
                        <a:t>47.8</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c>
                  <a:txBody>
                    <a:bodyPr/>
                    <a:lstStyle/>
                    <a:p>
                      <a:pPr indent="0" marL="0">
                        <a:lnSpc>
                          <a:spcPts val="2240"/>
                        </a:lnSpc>
                        <a:buNone/>
                      </a:pPr>
                      <a:r>
                        <a:rPr lang="en-US" sz="1600" dirty="0">
                          <a:solidFill>
                            <a:srgbClr val="2A1C0E"/>
                          </a:solidFill>
                          <a:latin typeface="Arial" pitchFamily="34" charset="0"/>
                          <a:ea typeface="Arial" pitchFamily="34" charset="-122"/>
                          <a:cs typeface="Arial" pitchFamily="34" charset="-120"/>
                        </a:rPr>
                        <a:t>High Risk</a:t>
                      </a:r>
                      <a:endParaRPr lang="en-US" sz="1600" dirty="0">
                        <a:latin typeface="Arial" charset="0"/>
                        <a:ea typeface="Arial" charset="0"/>
                        <a:cs typeface="Arial" charset="0"/>
                      </a:endParaRPr>
                    </a:p>
                  </a:txBody>
                  <a:tcPr marL="71120" marR="71120" marT="71120" marB="71120" anchor="t">
                    <a:lnL w="12700" cap="flat" cmpd="sng" algn="ctr">
                      <a:solidFill>
                        <a:srgbClr val="BFB6A0"/>
                      </a:solidFill>
                      <a:prstDash val="solid"/>
                      <a:round/>
                      <a:headEnd type="none" w="med" len="med"/>
                      <a:tailEnd type="none" w="med" len="med"/>
                    </a:lnL>
                    <a:lnR w="12700" cap="flat" cmpd="sng" algn="ctr">
                      <a:solidFill>
                        <a:srgbClr val="BFB6A0"/>
                      </a:solidFill>
                      <a:prstDash val="solid"/>
                      <a:round/>
                      <a:headEnd type="none" w="med" len="med"/>
                      <a:tailEnd type="none" w="med" len="med"/>
                    </a:lnR>
                    <a:lnT w="12700" cap="flat" cmpd="sng" algn="ctr">
                      <a:solidFill>
                        <a:srgbClr val="C4C0B4"/>
                      </a:solidFill>
                      <a:prstDash val="solid"/>
                      <a:round/>
                      <a:headEnd type="none" w="med" len="med"/>
                      <a:tailEnd type="none" w="med" len="med"/>
                    </a:lnT>
                    <a:lnB w="12700" cap="flat" cmpd="sng" algn="ctr">
                      <a:solidFill>
                        <a:srgbClr val="BFB6A0"/>
                      </a:solidFill>
                      <a:prstDash val="solid"/>
                      <a:round/>
                      <a:headEnd type="none" w="med" len="med"/>
                      <a:tailEnd type="none" w="med" len="med"/>
                    </a:lnB>
                    <a:solidFill>
                      <a:srgbClr val="EFE4C8"/>
                    </a:solidFill>
                  </a:tcPr>
                </a:tc>
              </a:tr>
            </a:tbl>
          </a:graphicData>
        </a:graphic>
      </p:graphicFrame>
      <p:sp>
        <p:nvSpPr>
          <p:cNvPr id="5" name="Text 2"/>
          <p:cNvSpPr/>
          <p:nvPr/>
        </p:nvSpPr>
        <p:spPr>
          <a:xfrm>
            <a:off x="812800" y="4353564"/>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3B2A"/>
                </a:solidFill>
                <a:latin typeface="Arial" pitchFamily="34" charset="0"/>
                <a:ea typeface="Arial" pitchFamily="34" charset="-122"/>
                <a:cs typeface="Arial" pitchFamily="34" charset="-120"/>
              </a:rPr>
              <a:t>Four synthetic applicants, one per performance tier. The ranking follows work history: more completed rides, higher ratings and fewer cancellations give a safer score.</a:t>
            </a:r>
            <a:endParaRPr lang="en-US" sz="15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C0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D9B877"/>
                </a:solidFill>
                <a:latin typeface="Arial" pitchFamily="34" charset="0"/>
                <a:ea typeface="Arial" pitchFamily="34" charset="-122"/>
                <a:cs typeface="Arial" pitchFamily="34" charset="-120"/>
              </a:rPr>
              <a:t>SMART CONTRACT</a:t>
            </a:r>
            <a:endParaRPr lang="en-US" sz="1300" dirty="0"/>
          </a:p>
        </p:txBody>
      </p:sp>
      <p:sp>
        <p:nvSpPr>
          <p:cNvPr id="3" name="Text 1"/>
          <p:cNvSpPr/>
          <p:nvPr>
            <p:ph type="title"/>
          </p:nvPr>
        </p:nvSpPr>
        <p:spPr>
          <a:xfrm>
            <a:off x="812800" y="1170942"/>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6F0E2"/>
                </a:solidFill>
                <a:latin typeface="Georgia" pitchFamily="18" charset="0"/>
                <a:ea typeface="Georgia" pitchFamily="18" charset="-122"/>
                <a:cs typeface="Georgia" pitchFamily="18" charset="-120"/>
              </a:rPr>
              <a:t>GigWorkerLoanLedger</a:t>
            </a:r>
            <a:endParaRPr lang="en-US" sz="3800" dirty="0"/>
          </a:p>
        </p:txBody>
      </p:sp>
      <p:sp>
        <p:nvSpPr>
          <p:cNvPr id="4" name="Shape 2"/>
          <p:cNvSpPr/>
          <p:nvPr/>
        </p:nvSpPr>
        <p:spPr>
          <a:xfrm>
            <a:off x="815975" y="1933575"/>
            <a:ext cx="5383530" cy="2754630"/>
          </a:xfrm>
          <a:prstGeom prst="roundRect">
            <a:avLst>
              <a:gd name="adj" fmla="val 4034"/>
            </a:avLst>
          </a:prstGeom>
          <a:solidFill>
            <a:srgbClr val="1B1208"/>
          </a:solidFill>
          <a:ln w="6350">
            <a:solidFill>
              <a:srgbClr val="6B5230"/>
            </a:solidFill>
            <a:prstDash val="solid"/>
          </a:ln>
        </p:spPr>
      </p:sp>
      <p:sp>
        <p:nvSpPr>
          <p:cNvPr id="5" name="Text 3"/>
          <p:cNvSpPr/>
          <p:nvPr/>
        </p:nvSpPr>
        <p:spPr>
          <a:xfrm>
            <a:off x="1046480" y="2164079"/>
            <a:ext cx="507019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9B877"/>
                </a:solidFill>
                <a:latin typeface="Courier New" pitchFamily="49" charset="0"/>
                <a:ea typeface="Courier New" pitchFamily="49" charset="-122"/>
                <a:cs typeface="Courier New" pitchFamily="49" charset="-120"/>
              </a:rPr>
              <a:t>struct DecisionInput</a:t>
            </a:r>
            <a:endParaRPr lang="en-US" sz="1400" dirty="0"/>
          </a:p>
        </p:txBody>
      </p:sp>
      <p:sp>
        <p:nvSpPr>
          <p:cNvPr id="6" name="Text 4"/>
          <p:cNvSpPr/>
          <p:nvPr/>
        </p:nvSpPr>
        <p:spPr>
          <a:xfrm>
            <a:off x="1046480" y="2476500"/>
            <a:ext cx="5070196" cy="20066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workerId, applicationId</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applicantName</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aiScoreScaled (x100)</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cibilScore</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riskMeterScaled (x100)</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riskBand, requestedAmountInr</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merkleRoot (bytes32)</a:t>
            </a:r>
            <a:endParaRPr lang="en-US" sz="1300" dirty="0"/>
          </a:p>
          <a:p>
            <a:pPr algn="l" indent="0" marL="0">
              <a:lnSpc>
                <a:spcPts val="1950"/>
              </a:lnSpc>
              <a:buNone/>
            </a:pPr>
            <a:r>
              <a:rPr lang="en-US" sz="1300" dirty="0">
                <a:solidFill>
                  <a:srgbClr val="E8DCC4"/>
                </a:solidFill>
                <a:latin typeface="Courier New" pitchFamily="49" charset="0"/>
                <a:ea typeface="Courier New" pitchFamily="49" charset="-122"/>
                <a:cs typeface="Courier New" pitchFamily="49" charset="-120"/>
              </a:rPr>
              <a:t>action, reviewedBy</a:t>
            </a:r>
            <a:endParaRPr lang="en-US" sz="1300" dirty="0"/>
          </a:p>
        </p:txBody>
      </p:sp>
      <p:sp>
        <p:nvSpPr>
          <p:cNvPr id="7" name="Text 5"/>
          <p:cNvSpPr/>
          <p:nvPr/>
        </p:nvSpPr>
        <p:spPr>
          <a:xfrm>
            <a:off x="6456680" y="2035814"/>
            <a:ext cx="507019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877"/>
                </a:solidFill>
                <a:latin typeface="Arial" pitchFamily="34" charset="0"/>
                <a:ea typeface="Arial" pitchFamily="34" charset="-122"/>
                <a:cs typeface="Arial" pitchFamily="34" charset="-120"/>
              </a:rPr>
              <a:t>Network:</a:t>
            </a:r>
            <a:r>
              <a:rPr lang="en-US" sz="1600" dirty="0">
                <a:solidFill>
                  <a:srgbClr val="E8DCC4"/>
                </a:solidFill>
                <a:latin typeface="Arial" pitchFamily="34" charset="0"/>
                <a:ea typeface="Arial" pitchFamily="34" charset="-122"/>
                <a:cs typeface="Arial" pitchFamily="34" charset="-120"/>
              </a:rPr>
              <a:t> Polygon Amoy testnet (chain ID 80002)</a:t>
            </a:r>
            <a:endParaRPr lang="en-US" sz="1600" dirty="0"/>
          </a:p>
        </p:txBody>
      </p:sp>
      <p:sp>
        <p:nvSpPr>
          <p:cNvPr id="8" name="Text 6"/>
          <p:cNvSpPr/>
          <p:nvPr/>
        </p:nvSpPr>
        <p:spPr>
          <a:xfrm>
            <a:off x="6456680" y="2459992"/>
            <a:ext cx="507019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877"/>
                </a:solidFill>
                <a:latin typeface="Arial" pitchFamily="34" charset="0"/>
                <a:ea typeface="Arial" pitchFamily="34" charset="-122"/>
                <a:cs typeface="Arial" pitchFamily="34" charset="-120"/>
              </a:rPr>
              <a:t>Language:</a:t>
            </a:r>
            <a:r>
              <a:rPr lang="en-US" sz="1600" dirty="0">
                <a:solidFill>
                  <a:srgbClr val="E8DCC4"/>
                </a:solidFill>
                <a:latin typeface="Arial" pitchFamily="34" charset="0"/>
                <a:ea typeface="Arial" pitchFamily="34" charset="-122"/>
                <a:cs typeface="Arial" pitchFamily="34" charset="-120"/>
              </a:rPr>
              <a:t> Solidity 0.8.20</a:t>
            </a:r>
            <a:endParaRPr lang="en-US" sz="1600" dirty="0"/>
          </a:p>
        </p:txBody>
      </p:sp>
      <p:sp>
        <p:nvSpPr>
          <p:cNvPr id="9" name="Text 7"/>
          <p:cNvSpPr/>
          <p:nvPr/>
        </p:nvSpPr>
        <p:spPr>
          <a:xfrm>
            <a:off x="6456680" y="2884171"/>
            <a:ext cx="507019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877"/>
                </a:solidFill>
                <a:latin typeface="Arial" pitchFamily="34" charset="0"/>
                <a:ea typeface="Arial" pitchFamily="34" charset="-122"/>
                <a:cs typeface="Arial" pitchFamily="34" charset="-120"/>
              </a:rPr>
              <a:t>Write access:</a:t>
            </a:r>
            <a:r>
              <a:rPr lang="en-US" sz="1600" dirty="0">
                <a:solidFill>
                  <a:srgbClr val="E8DCC4"/>
                </a:solidFill>
                <a:latin typeface="Arial" pitchFamily="34" charset="0"/>
                <a:ea typeface="Arial" pitchFamily="34" charset="-122"/>
                <a:cs typeface="Arial" pitchFamily="34" charset="-120"/>
              </a:rPr>
              <a:t> only the authorised oracle wallet</a:t>
            </a:r>
            <a:endParaRPr lang="en-US" sz="1600" dirty="0"/>
          </a:p>
        </p:txBody>
      </p:sp>
      <p:sp>
        <p:nvSpPr>
          <p:cNvPr id="10" name="Text 8"/>
          <p:cNvSpPr/>
          <p:nvPr/>
        </p:nvSpPr>
        <p:spPr>
          <a:xfrm>
            <a:off x="6456680" y="3308350"/>
            <a:ext cx="5070196"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877"/>
                </a:solidFill>
                <a:latin typeface="Arial" pitchFamily="34" charset="0"/>
                <a:ea typeface="Arial" pitchFamily="34" charset="-122"/>
                <a:cs typeface="Arial" pitchFamily="34" charset="-120"/>
              </a:rPr>
              <a:t>Scores:</a:t>
            </a:r>
            <a:r>
              <a:rPr lang="en-US" sz="1600" dirty="0">
                <a:solidFill>
                  <a:srgbClr val="E8DCC4"/>
                </a:solidFill>
                <a:latin typeface="Arial" pitchFamily="34" charset="0"/>
                <a:ea typeface="Arial" pitchFamily="34" charset="-122"/>
                <a:cs typeface="Arial" pitchFamily="34" charset="-120"/>
              </a:rPr>
              <a:t> stored as whole numbers, 93.85 becomes 9385</a:t>
            </a:r>
            <a:endParaRPr lang="en-US" sz="1600" dirty="0"/>
          </a:p>
        </p:txBody>
      </p:sp>
      <p:sp>
        <p:nvSpPr>
          <p:cNvPr id="11" name="Text 9"/>
          <p:cNvSpPr/>
          <p:nvPr/>
        </p:nvSpPr>
        <p:spPr>
          <a:xfrm>
            <a:off x="6456680" y="4017014"/>
            <a:ext cx="5070196"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9B877"/>
                </a:solidFill>
                <a:latin typeface="Arial" pitchFamily="34" charset="0"/>
                <a:ea typeface="Arial" pitchFamily="34" charset="-122"/>
                <a:cs typeface="Arial" pitchFamily="34" charset="-120"/>
              </a:rPr>
              <a:t>Functions:</a:t>
            </a:r>
            <a:r>
              <a:rPr lang="en-US" sz="1600" dirty="0">
                <a:solidFill>
                  <a:srgbClr val="E8DCC4"/>
                </a:solidFill>
                <a:latin typeface="Arial" pitchFamily="34" charset="0"/>
                <a:ea typeface="Arial" pitchFamily="34" charset="-122"/>
                <a:cs typeface="Arial" pitchFamily="34" charset="-120"/>
              </a:rPr>
              <a:t> recordDecision, getLatestDecision, verifyLatestMerkleRoot</a:t>
            </a:r>
            <a:endParaRPr lang="en-US" sz="16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A5C22"/>
                </a:solidFill>
                <a:latin typeface="Arial" pitchFamily="34" charset="0"/>
                <a:ea typeface="Arial" pitchFamily="34" charset="-122"/>
                <a:cs typeface="Arial" pitchFamily="34" charset="-120"/>
              </a:rPr>
              <a:t>LIVE DEPLOYMENT</a:t>
            </a:r>
            <a:endParaRPr lang="en-US" sz="1300" dirty="0"/>
          </a:p>
        </p:txBody>
      </p:sp>
      <p:sp>
        <p:nvSpPr>
          <p:cNvPr id="3" name="Text 1"/>
          <p:cNvSpPr/>
          <p:nvPr>
            <p:ph type="title"/>
          </p:nvPr>
        </p:nvSpPr>
        <p:spPr>
          <a:xfrm>
            <a:off x="812800" y="1170942"/>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2A1C0E"/>
                </a:solidFill>
                <a:latin typeface="Georgia" pitchFamily="18" charset="0"/>
                <a:ea typeface="Georgia" pitchFamily="18" charset="-122"/>
                <a:cs typeface="Georgia" pitchFamily="18" charset="-120"/>
              </a:rPr>
              <a:t>Deployed on Polygon Amoy</a:t>
            </a:r>
            <a:endParaRPr lang="en-US" sz="3800" dirty="0"/>
          </a:p>
        </p:txBody>
      </p:sp>
      <p:sp>
        <p:nvSpPr>
          <p:cNvPr id="4" name="Shape 2"/>
          <p:cNvSpPr/>
          <p:nvPr/>
        </p:nvSpPr>
        <p:spPr>
          <a:xfrm>
            <a:off x="812800" y="1930400"/>
            <a:ext cx="3556000" cy="3556000"/>
          </a:xfrm>
          <a:prstGeom prst="roundRect">
            <a:avLst>
              <a:gd name="adj" fmla="val 2857"/>
            </a:avLst>
          </a:prstGeom>
          <a:solidFill>
            <a:srgbClr val="1B1208"/>
          </a:solidFill>
          <a:ln/>
        </p:spPr>
      </p:sp>
      <p:pic>
        <p:nvPicPr>
          <p:cNvPr id="5" name="Image 0" descr="Remix IDE Deployed Contracts panel showing GigWorkerLoanLedger on the Amoy network">    </p:cNvPr>
          <p:cNvPicPr>
            <a:picLocks noChangeAspect="1"/>
          </p:cNvPicPr>
          <p:nvPr/>
        </p:nvPicPr>
        <p:blipFill>
          <a:blip r:embed="rId1"/>
          <a:stretch>
            <a:fillRect/>
          </a:stretch>
        </p:blipFill>
        <p:spPr>
          <a:xfrm>
            <a:off x="935594" y="1943100"/>
            <a:ext cx="3310412" cy="3530600"/>
          </a:xfrm>
          <a:prstGeom prst="rect">
            <a:avLst/>
          </a:prstGeom>
        </p:spPr>
      </p:pic>
      <p:sp>
        <p:nvSpPr>
          <p:cNvPr id="6" name="Shape 3"/>
          <p:cNvSpPr/>
          <p:nvPr/>
        </p:nvSpPr>
        <p:spPr>
          <a:xfrm>
            <a:off x="819150" y="1936750"/>
            <a:ext cx="3543300" cy="3543300"/>
          </a:xfrm>
          <a:prstGeom prst="roundRect">
            <a:avLst>
              <a:gd name="adj" fmla="val 2688"/>
            </a:avLst>
          </a:prstGeom>
          <a:noFill/>
          <a:ln w="12700">
            <a:solidFill>
              <a:srgbClr val="B08D57"/>
            </a:solidFill>
            <a:prstDash val="solid"/>
          </a:ln>
        </p:spPr>
      </p:sp>
      <p:sp>
        <p:nvSpPr>
          <p:cNvPr id="7" name="Text 4"/>
          <p:cNvSpPr/>
          <p:nvPr/>
        </p:nvSpPr>
        <p:spPr>
          <a:xfrm>
            <a:off x="4724400" y="2216150"/>
            <a:ext cx="68544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A5C22"/>
                </a:solidFill>
                <a:latin typeface="Arial" pitchFamily="34" charset="0"/>
                <a:ea typeface="Arial" pitchFamily="34" charset="-122"/>
                <a:cs typeface="Arial" pitchFamily="34" charset="-120"/>
              </a:rPr>
              <a:t>Deployed</a:t>
            </a:r>
            <a:r>
              <a:rPr lang="en-US" sz="1600" dirty="0">
                <a:solidFill>
                  <a:srgbClr val="2A1C0E"/>
                </a:solidFill>
                <a:latin typeface="Arial" pitchFamily="34" charset="0"/>
                <a:ea typeface="Arial" pitchFamily="34" charset="-122"/>
                <a:cs typeface="Arial" pitchFamily="34" charset="-120"/>
              </a:rPr>
              <a:t> from Remix IDE through MetaMask to a live public test network.</a:t>
            </a:r>
            <a:endParaRPr lang="en-US" sz="1600" dirty="0"/>
          </a:p>
        </p:txBody>
      </p:sp>
      <p:sp>
        <p:nvSpPr>
          <p:cNvPr id="8" name="Text 5"/>
          <p:cNvSpPr/>
          <p:nvPr/>
        </p:nvSpPr>
        <p:spPr>
          <a:xfrm>
            <a:off x="4724400" y="2924814"/>
            <a:ext cx="685444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A5C22"/>
                </a:solidFill>
                <a:latin typeface="Arial" pitchFamily="34" charset="0"/>
                <a:ea typeface="Arial" pitchFamily="34" charset="-122"/>
                <a:cs typeface="Arial" pitchFamily="34" charset="-120"/>
              </a:rPr>
              <a:t>Source verified</a:t>
            </a:r>
            <a:r>
              <a:rPr lang="en-US" sz="1600" dirty="0">
                <a:solidFill>
                  <a:srgbClr val="2A1C0E"/>
                </a:solidFill>
                <a:latin typeface="Arial" pitchFamily="34" charset="0"/>
                <a:ea typeface="Arial" pitchFamily="34" charset="-122"/>
                <a:cs typeface="Arial" pitchFamily="34" charset="-120"/>
              </a:rPr>
              <a:t> on Sourcify, so anyone can read the code.</a:t>
            </a:r>
            <a:endParaRPr lang="en-US" sz="1600" dirty="0"/>
          </a:p>
        </p:txBody>
      </p:sp>
      <p:sp>
        <p:nvSpPr>
          <p:cNvPr id="9" name="Text 6"/>
          <p:cNvSpPr/>
          <p:nvPr/>
        </p:nvSpPr>
        <p:spPr>
          <a:xfrm>
            <a:off x="4724400" y="3348992"/>
            <a:ext cx="68544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A5C22"/>
                </a:solidFill>
                <a:latin typeface="Arial" pitchFamily="34" charset="0"/>
                <a:ea typeface="Arial" pitchFamily="34" charset="-122"/>
                <a:cs typeface="Arial" pitchFamily="34" charset="-120"/>
              </a:rPr>
              <a:t>Connected</a:t>
            </a:r>
            <a:r>
              <a:rPr lang="en-US" sz="1600" dirty="0">
                <a:solidFill>
                  <a:srgbClr val="2A1C0E"/>
                </a:solidFill>
                <a:latin typeface="Arial" pitchFamily="34" charset="0"/>
                <a:ea typeface="Arial" pitchFamily="34" charset="-122"/>
                <a:cs typeface="Arial" pitchFamily="34" charset="-120"/>
              </a:rPr>
              <a:t> from our Python code through an Alchemy node, reading live blocks.</a:t>
            </a:r>
            <a:endParaRPr lang="en-US" sz="1600" dirty="0"/>
          </a:p>
        </p:txBody>
      </p:sp>
      <p:sp>
        <p:nvSpPr>
          <p:cNvPr id="10" name="Text 7"/>
          <p:cNvSpPr/>
          <p:nvPr/>
        </p:nvSpPr>
        <p:spPr>
          <a:xfrm>
            <a:off x="4724400" y="4057650"/>
            <a:ext cx="6854444"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A5C22"/>
                </a:solidFill>
                <a:latin typeface="Arial" pitchFamily="34" charset="0"/>
                <a:ea typeface="Arial" pitchFamily="34" charset="-122"/>
                <a:cs typeface="Arial" pitchFamily="34" charset="-120"/>
              </a:rPr>
              <a:t>Cost:</a:t>
            </a:r>
            <a:r>
              <a:rPr lang="en-US" sz="1600" dirty="0">
                <a:solidFill>
                  <a:srgbClr val="2A1C0E"/>
                </a:solidFill>
                <a:latin typeface="Arial" pitchFamily="34" charset="0"/>
                <a:ea typeface="Arial" pitchFamily="34" charset="-122"/>
                <a:cs typeface="Arial" pitchFamily="34" charset="-120"/>
              </a:rPr>
              <a:t> one recorded decision uses about 413,000 gas, measured in testing.</a:t>
            </a:r>
            <a:endParaRPr lang="en-US" sz="1600" dirty="0"/>
          </a:p>
        </p:txBody>
      </p:sp>
      <p:sp>
        <p:nvSpPr>
          <p:cNvPr id="11" name="Text 8"/>
          <p:cNvSpPr/>
          <p:nvPr/>
        </p:nvSpPr>
        <p:spPr>
          <a:xfrm>
            <a:off x="4724400" y="4766314"/>
            <a:ext cx="5715000" cy="434340"/>
          </a:xfrm>
          <a:prstGeom prst="roundRect">
            <a:avLst>
              <a:gd name="adj" fmla="val 14620"/>
            </a:avLst>
          </a:prstGeom>
          <a:solidFill>
            <a:srgbClr val="EFE4C8"/>
          </a:solidFill>
          <a:ln/>
        </p:spPr>
        <p:txBody>
          <a:bodyPr wrap="square" lIns="108401" tIns="83001" rIns="0" bIns="57601" rtlCol="0" anchor="t">
            <a:normAutofit/>
          </a:bodyPr>
          <a:lstStyle/>
          <a:p>
            <a:pPr algn="l" indent="0" marL="0">
              <a:lnSpc>
                <a:spcPts val="1820"/>
              </a:lnSpc>
              <a:buNone/>
            </a:pPr>
            <a:r>
              <a:rPr lang="en-US" sz="1300" dirty="0">
                <a:solidFill>
                  <a:srgbClr val="2A1C0E"/>
                </a:solidFill>
                <a:latin typeface="Courier New" pitchFamily="49" charset="0"/>
                <a:ea typeface="Courier New" pitchFamily="49" charset="-122"/>
                <a:cs typeface="Courier New" pitchFamily="49" charset="-120"/>
              </a:rPr>
              <a:t>0xA835471327167F662686D0f0a6146c94e1041759</a:t>
            </a:r>
            <a:endParaRPr lang="en-US" sz="1300" dirty="0"/>
          </a:p>
        </p:txBody>
      </p:sp>
      <p:sp>
        <p:nvSpPr>
          <p:cNvPr id="12"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55"/>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B281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D9B877"/>
                </a:solidFill>
                <a:latin typeface="Arial" pitchFamily="34" charset="0"/>
                <a:ea typeface="Arial" pitchFamily="34" charset="-122"/>
                <a:cs typeface="Arial" pitchFamily="34" charset="-120"/>
              </a:rPr>
              <a:t>FUTURE SCOPE</a:t>
            </a:r>
            <a:endParaRPr lang="en-US" sz="1300" dirty="0"/>
          </a:p>
        </p:txBody>
      </p:sp>
      <p:sp>
        <p:nvSpPr>
          <p:cNvPr id="3" name="Text 1"/>
          <p:cNvSpPr/>
          <p:nvPr>
            <p:ph type="title"/>
          </p:nvPr>
        </p:nvSpPr>
        <p:spPr>
          <a:xfrm>
            <a:off x="812800" y="1170942"/>
            <a:ext cx="10883392" cy="612140"/>
          </a:xfrm>
          <a:prstGeom prst="rect">
            <a:avLst/>
          </a:prstGeom>
          <a:noFill/>
          <a:ln/>
        </p:spPr>
        <p:txBody>
          <a:bodyPr wrap="square" lIns="0" tIns="0" rIns="0" bIns="0" rtlCol="0" anchor="t">
            <a:normAutofit/>
          </a:bodyPr>
          <a:lstStyle/>
          <a:p>
            <a:pPr algn="l" indent="0" marL="0">
              <a:lnSpc>
                <a:spcPts val="4620"/>
              </a:lnSpc>
              <a:buNone/>
            </a:pPr>
            <a:r>
              <a:rPr lang="en-US" sz="4200" b="0" i="0" dirty="0">
                <a:solidFill>
                  <a:srgbClr val="F6F0E2"/>
                </a:solidFill>
                <a:latin typeface="Georgia" pitchFamily="18" charset="0"/>
                <a:ea typeface="Georgia" pitchFamily="18" charset="-122"/>
                <a:cs typeface="Georgia" pitchFamily="18" charset="-120"/>
              </a:rPr>
              <a:t>From prototype to real lending</a:t>
            </a:r>
            <a:endParaRPr lang="en-US" sz="4200" dirty="0"/>
          </a:p>
        </p:txBody>
      </p:sp>
      <p:sp>
        <p:nvSpPr>
          <p:cNvPr id="4" name="Shape 2"/>
          <p:cNvSpPr/>
          <p:nvPr/>
        </p:nvSpPr>
        <p:spPr>
          <a:xfrm>
            <a:off x="815975" y="3912239"/>
            <a:ext cx="2501900" cy="1926590"/>
          </a:xfrm>
          <a:prstGeom prst="roundRect">
            <a:avLst>
              <a:gd name="adj" fmla="val 6427"/>
            </a:avLst>
          </a:prstGeom>
          <a:solidFill>
            <a:srgbClr val="2A1C0E"/>
          </a:solidFill>
          <a:ln w="6350">
            <a:solidFill>
              <a:srgbClr val="6B5230"/>
            </a:solidFill>
            <a:prstDash val="solid"/>
          </a:ln>
        </p:spPr>
      </p:sp>
      <p:sp>
        <p:nvSpPr>
          <p:cNvPr id="5" name="Text 3"/>
          <p:cNvSpPr/>
          <p:nvPr/>
        </p:nvSpPr>
        <p:spPr>
          <a:xfrm>
            <a:off x="1071880" y="4168142"/>
            <a:ext cx="2049793" cy="6045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D9B877"/>
                </a:solidFill>
                <a:latin typeface="Arial" pitchFamily="34" charset="0"/>
                <a:ea typeface="Arial" pitchFamily="34" charset="-122"/>
                <a:cs typeface="Arial" pitchFamily="34" charset="-120"/>
              </a:rPr>
              <a:t>Real platform data</a:t>
            </a:r>
            <a:endParaRPr lang="en-US" sz="1900" dirty="0"/>
          </a:p>
        </p:txBody>
      </p:sp>
      <p:sp>
        <p:nvSpPr>
          <p:cNvPr id="6" name="Text 4"/>
          <p:cNvSpPr/>
          <p:nvPr/>
        </p:nvSpPr>
        <p:spPr>
          <a:xfrm>
            <a:off x="1071880" y="4836164"/>
            <a:ext cx="204979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CC4"/>
                </a:solidFill>
                <a:latin typeface="Arial" pitchFamily="34" charset="0"/>
                <a:ea typeface="Arial" pitchFamily="34" charset="-122"/>
                <a:cs typeface="Arial" pitchFamily="34" charset="-120"/>
              </a:rPr>
              <a:t>Connect to gig platforms with the worker’s consent.</a:t>
            </a:r>
            <a:endParaRPr lang="en-US" sz="1400" dirty="0"/>
          </a:p>
        </p:txBody>
      </p:sp>
      <p:sp>
        <p:nvSpPr>
          <p:cNvPr id="7" name="Shape 5"/>
          <p:cNvSpPr/>
          <p:nvPr/>
        </p:nvSpPr>
        <p:spPr>
          <a:xfrm>
            <a:off x="3502025" y="3912239"/>
            <a:ext cx="2501900" cy="1926590"/>
          </a:xfrm>
          <a:prstGeom prst="roundRect">
            <a:avLst>
              <a:gd name="adj" fmla="val 6427"/>
            </a:avLst>
          </a:prstGeom>
          <a:solidFill>
            <a:srgbClr val="2A1C0E"/>
          </a:solidFill>
          <a:ln w="6350">
            <a:solidFill>
              <a:srgbClr val="6B5230"/>
            </a:solidFill>
            <a:prstDash val="solid"/>
          </a:ln>
        </p:spPr>
      </p:sp>
      <p:sp>
        <p:nvSpPr>
          <p:cNvPr id="8" name="Text 6"/>
          <p:cNvSpPr/>
          <p:nvPr/>
        </p:nvSpPr>
        <p:spPr>
          <a:xfrm>
            <a:off x="3757930" y="4168142"/>
            <a:ext cx="204979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D9B877"/>
                </a:solidFill>
                <a:latin typeface="Arial" pitchFamily="34" charset="0"/>
                <a:ea typeface="Arial" pitchFamily="34" charset="-122"/>
                <a:cs typeface="Arial" pitchFamily="34" charset="-120"/>
              </a:rPr>
              <a:t>Learned model</a:t>
            </a:r>
            <a:endParaRPr lang="en-US" sz="1900" dirty="0"/>
          </a:p>
        </p:txBody>
      </p:sp>
      <p:sp>
        <p:nvSpPr>
          <p:cNvPr id="9" name="Text 7"/>
          <p:cNvSpPr/>
          <p:nvPr/>
        </p:nvSpPr>
        <p:spPr>
          <a:xfrm>
            <a:off x="3757930" y="4546600"/>
            <a:ext cx="204979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CC4"/>
                </a:solidFill>
                <a:latin typeface="Arial" pitchFamily="34" charset="0"/>
                <a:ea typeface="Arial" pitchFamily="34" charset="-122"/>
                <a:cs typeface="Arial" pitchFamily="34" charset="-120"/>
              </a:rPr>
              <a:t>Train on repayment outcomes instead of fixed weights.</a:t>
            </a:r>
            <a:endParaRPr lang="en-US" sz="1400" dirty="0"/>
          </a:p>
        </p:txBody>
      </p:sp>
      <p:sp>
        <p:nvSpPr>
          <p:cNvPr id="10" name="Shape 8"/>
          <p:cNvSpPr/>
          <p:nvPr/>
        </p:nvSpPr>
        <p:spPr>
          <a:xfrm>
            <a:off x="6188075" y="3912239"/>
            <a:ext cx="2501900" cy="1926590"/>
          </a:xfrm>
          <a:prstGeom prst="roundRect">
            <a:avLst>
              <a:gd name="adj" fmla="val 6427"/>
            </a:avLst>
          </a:prstGeom>
          <a:solidFill>
            <a:srgbClr val="2A1C0E"/>
          </a:solidFill>
          <a:ln w="6350">
            <a:solidFill>
              <a:srgbClr val="6B5230"/>
            </a:solidFill>
            <a:prstDash val="solid"/>
          </a:ln>
        </p:spPr>
      </p:sp>
      <p:sp>
        <p:nvSpPr>
          <p:cNvPr id="11" name="Text 9"/>
          <p:cNvSpPr/>
          <p:nvPr/>
        </p:nvSpPr>
        <p:spPr>
          <a:xfrm>
            <a:off x="6443980" y="4168142"/>
            <a:ext cx="2049793" cy="6045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D9B877"/>
                </a:solidFill>
                <a:latin typeface="Arial" pitchFamily="34" charset="0"/>
                <a:ea typeface="Arial" pitchFamily="34" charset="-122"/>
                <a:cs typeface="Arial" pitchFamily="34" charset="-120"/>
              </a:rPr>
              <a:t>Audit and mainnet</a:t>
            </a:r>
            <a:endParaRPr lang="en-US" sz="1900" dirty="0"/>
          </a:p>
        </p:txBody>
      </p:sp>
      <p:sp>
        <p:nvSpPr>
          <p:cNvPr id="12" name="Text 10"/>
          <p:cNvSpPr/>
          <p:nvPr/>
        </p:nvSpPr>
        <p:spPr>
          <a:xfrm>
            <a:off x="6443980" y="4836164"/>
            <a:ext cx="204979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CC4"/>
                </a:solidFill>
                <a:latin typeface="Arial" pitchFamily="34" charset="0"/>
                <a:ea typeface="Arial" pitchFamily="34" charset="-122"/>
                <a:cs typeface="Arial" pitchFamily="34" charset="-120"/>
              </a:rPr>
              <a:t>Security review of the contract before any production use.</a:t>
            </a:r>
            <a:endParaRPr lang="en-US" sz="1400" dirty="0"/>
          </a:p>
        </p:txBody>
      </p:sp>
      <p:sp>
        <p:nvSpPr>
          <p:cNvPr id="13" name="Shape 11"/>
          <p:cNvSpPr/>
          <p:nvPr/>
        </p:nvSpPr>
        <p:spPr>
          <a:xfrm>
            <a:off x="8874125" y="3912239"/>
            <a:ext cx="2501900" cy="1926590"/>
          </a:xfrm>
          <a:prstGeom prst="roundRect">
            <a:avLst>
              <a:gd name="adj" fmla="val 6427"/>
            </a:avLst>
          </a:prstGeom>
          <a:solidFill>
            <a:srgbClr val="2A1C0E"/>
          </a:solidFill>
          <a:ln w="6350">
            <a:solidFill>
              <a:srgbClr val="6B5230"/>
            </a:solidFill>
            <a:prstDash val="solid"/>
          </a:ln>
        </p:spPr>
      </p:sp>
      <p:sp>
        <p:nvSpPr>
          <p:cNvPr id="14" name="Text 12"/>
          <p:cNvSpPr/>
          <p:nvPr/>
        </p:nvSpPr>
        <p:spPr>
          <a:xfrm>
            <a:off x="9130030" y="4168142"/>
            <a:ext cx="2049793"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D9B877"/>
                </a:solidFill>
                <a:latin typeface="Arial" pitchFamily="34" charset="0"/>
                <a:ea typeface="Arial" pitchFamily="34" charset="-122"/>
                <a:cs typeface="Arial" pitchFamily="34" charset="-120"/>
              </a:rPr>
              <a:t>Worker app</a:t>
            </a:r>
            <a:endParaRPr lang="en-US" sz="1900" dirty="0"/>
          </a:p>
        </p:txBody>
      </p:sp>
      <p:sp>
        <p:nvSpPr>
          <p:cNvPr id="15" name="Text 13"/>
          <p:cNvSpPr/>
          <p:nvPr/>
        </p:nvSpPr>
        <p:spPr>
          <a:xfrm>
            <a:off x="9130030" y="4546600"/>
            <a:ext cx="204979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DCC4"/>
                </a:solidFill>
                <a:latin typeface="Arial" pitchFamily="34" charset="0"/>
                <a:ea typeface="Arial" pitchFamily="34" charset="-122"/>
                <a:cs typeface="Arial" pitchFamily="34" charset="-120"/>
              </a:rPr>
              <a:t>Let workers see and share their own verified score.</a:t>
            </a:r>
            <a:endParaRPr lang="en-US" sz="14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VeriCred · Verified Trust for the Gig Economy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1C0E"/>
        </a:solidFill>
      </p:bgPr>
    </p:bg>
    <p:spTree>
      <p:nvGrpSpPr>
        <p:cNvPr id="1" name=""/>
        <p:cNvGrpSpPr/>
        <p:nvPr/>
      </p:nvGrpSpPr>
      <p:grpSpPr>
        <a:xfrm>
          <a:off x="0" y="0"/>
          <a:ext cx="0" cy="0"/>
          <a:chOff x="0" y="0"/>
          <a:chExt cx="0" cy="0"/>
        </a:xfrm>
      </p:grpSpPr>
      <p:sp>
        <p:nvSpPr>
          <p:cNvPr id="2" name="Text 0"/>
          <p:cNvSpPr/>
          <p:nvPr>
            <p:ph type="title"/>
          </p:nvPr>
        </p:nvSpPr>
        <p:spPr>
          <a:xfrm>
            <a:off x="812800" y="2315846"/>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0" i="0" dirty="0">
                <a:solidFill>
                  <a:srgbClr val="F6F0E2"/>
                </a:solidFill>
                <a:latin typeface="Georgia" pitchFamily="18" charset="0"/>
                <a:ea typeface="Georgia" pitchFamily="18" charset="-122"/>
                <a:cs typeface="Georgia" pitchFamily="18" charset="-120"/>
              </a:rPr>
              <a:t>Thank you</a:t>
            </a:r>
            <a:endParaRPr lang="en-US" sz="8000" dirty="0"/>
          </a:p>
        </p:txBody>
      </p:sp>
      <p:sp>
        <p:nvSpPr>
          <p:cNvPr id="3" name="Text 1"/>
          <p:cNvSpPr/>
          <p:nvPr/>
        </p:nvSpPr>
        <p:spPr>
          <a:xfrm>
            <a:off x="812800" y="3509646"/>
            <a:ext cx="10883392" cy="39116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D9B877"/>
                </a:solidFill>
                <a:latin typeface="Arial" pitchFamily="34" charset="0"/>
                <a:ea typeface="Arial" pitchFamily="34" charset="-122"/>
                <a:cs typeface="Arial" pitchFamily="34" charset="-120"/>
              </a:rPr>
              <a:t>Questions?</a:t>
            </a:r>
            <a:endParaRPr lang="en-US" sz="2400" dirty="0"/>
          </a:p>
        </p:txBody>
      </p:sp>
      <p:sp>
        <p:nvSpPr>
          <p:cNvPr id="4" name="Text 2"/>
          <p:cNvSpPr/>
          <p:nvPr/>
        </p:nvSpPr>
        <p:spPr>
          <a:xfrm>
            <a:off x="812800" y="4053204"/>
            <a:ext cx="990600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DCC4"/>
                </a:solidFill>
                <a:latin typeface="Arial" pitchFamily="34" charset="0"/>
                <a:ea typeface="Arial" pitchFamily="34" charset="-122"/>
                <a:cs typeface="Arial" pitchFamily="34" charset="-120"/>
              </a:rPr>
              <a:t>Built with Python, Flask, Solidity, Web3.py, JavaScript and Chart.js. Deployed on Polygon Amoy.</a:t>
            </a:r>
            <a:endParaRPr lang="en-US" sz="1500" dirty="0"/>
          </a:p>
        </p:txBody>
      </p:sp>
      <p:sp>
        <p:nvSpPr>
          <p:cNvPr id="5" name="Text 3"/>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BBBA0"/>
                </a:solidFill>
                <a:latin typeface="Arial" pitchFamily="34" charset="0"/>
                <a:ea typeface="Arial" pitchFamily="34" charset="-122"/>
                <a:cs typeface="Arial" pitchFamily="34" charset="-120"/>
              </a:rPr>
              <a:t>VeriCred · Verified Trust for the Gig Economy · CB.SC.U4CSE24730 · CB.SC.U4CSE24528</a:t>
            </a:r>
            <a:endParaRPr lang="en-US" sz="1200" dirty="0"/>
          </a:p>
        </p:txBody>
      </p:sp>
    </p:spTree>
  </p:cSld>
  <p:clrMapOvr>
    <a:masterClrMapping/>
  </p:clrMapOvr>
</p:sld>
</file>

<file path=ppt/theme/theme1.xml><?xml version="1.0" encoding="utf-8"?>
<a:theme xmlns:a="http://schemas.openxmlformats.org/drawingml/2006/main" name="VeriCred – AI + Blockchain Loan Verification">
  <a:themeElements>
    <a:clrScheme name="VeriCred – AI + Blockchain Loan Verification">
      <a:dk1>
        <a:srgbClr val="2A1C0E"/>
      </a:dk1>
      <a:lt1>
        <a:srgbClr val="F6F0E2"/>
      </a:lt1>
      <a:dk2>
        <a:srgbClr val="5D5143"/>
      </a:dk2>
      <a:lt2>
        <a:srgbClr val="E2DBCD"/>
      </a:lt2>
      <a:accent1>
        <a:srgbClr val="D9B877"/>
      </a:accent1>
      <a:accent2>
        <a:srgbClr val="7A5C22"/>
      </a:accent2>
      <a:accent3>
        <a:srgbClr val="CBBBA0"/>
      </a:accent3>
      <a:accent4>
        <a:srgbClr val="B08D57"/>
      </a:accent4>
      <a:accent5>
        <a:srgbClr val="EFE4C8"/>
      </a:accent5>
      <a:accent6>
        <a:srgbClr val="8A6A2F"/>
      </a:accent6>
      <a:hlink>
        <a:srgbClr val="0563C1"/>
      </a:hlink>
      <a:folHlink>
        <a:srgbClr val="954F72"/>
      </a:folHlink>
    </a:clrScheme>
    <a:fontScheme name="VeriCred – AI + Blockchain Loan Verific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VeriCred – AI + Blockchain Loan Verification</dc:title>
  <dc:subject/>
  <dc:creator/>
  <cp:lastModifiedBy/>
  <cp:revision>1</cp:revision>
  <dcterms:created xsi:type="dcterms:W3CDTF">2026-10-22T16:15:28Z</dcterms:created>
  <dcterms:modified xsi:type="dcterms:W3CDTF">2026-10-22T16:15:28Z</dcterms:modified>
</cp:coreProperties>
</file>